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78462" autoAdjust="0"/>
  </p:normalViewPr>
  <p:slideViewPr>
    <p:cSldViewPr snapToGrid="0" snapToObjects="1">
      <p:cViewPr varScale="1">
        <p:scale>
          <a:sx n="70" d="100"/>
          <a:sy n="70" d="100"/>
        </p:scale>
        <p:origin x="111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65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Very good morning to everyone.</a:t>
            </a:r>
          </a:p>
          <a:p>
            <a:endParaRPr lang="en-IN" dirty="0"/>
          </a:p>
          <a:p>
            <a:r>
              <a:rPr lang="en-IN" dirty="0"/>
              <a:t>My name is </a:t>
            </a:r>
            <a:r>
              <a:rPr lang="en-IN" b="1" dirty="0"/>
              <a:t>Madhu Kunchala</a:t>
            </a:r>
            <a:r>
              <a:rPr lang="en-IN" dirty="0"/>
              <a:t>, and today I am going to present my machine learning project titled </a:t>
            </a:r>
            <a:r>
              <a:rPr lang="en-IN" b="1" dirty="0"/>
              <a:t>“Credit Pre-Screening Engine — Loan Intake Optimisation.”</a:t>
            </a:r>
            <a:endParaRPr lang="en-IN" dirty="0"/>
          </a:p>
          <a:p>
            <a:r>
              <a:rPr lang="en-IN" dirty="0"/>
              <a:t>This project is based on the banking sector, mainly personal loan applications.</a:t>
            </a:r>
          </a:p>
          <a:p>
            <a:endParaRPr lang="en-IN" dirty="0"/>
          </a:p>
          <a:p>
            <a:r>
              <a:rPr lang="en-IN" dirty="0"/>
              <a:t>In this project, I explored how machine learning can help banks identify applications that can be processed quickly and applications that require human review.</a:t>
            </a:r>
          </a:p>
          <a:p>
            <a:r>
              <a:rPr lang="en-IN" dirty="0"/>
              <a:t>Our main aim is to </a:t>
            </a:r>
            <a:r>
              <a:rPr lang="en-IN" b="1" dirty="0"/>
              <a:t>reduce manual workload while keeping incorrect automated decisions under control</a:t>
            </a:r>
            <a:r>
              <a:rPr lang="en-IN" dirty="0"/>
              <a:t>.</a:t>
            </a:r>
          </a:p>
          <a:p>
            <a:r>
              <a:rPr lang="en-IN" dirty="0"/>
              <a:t>Let me start by explaining the business problem behind this project.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problem statement is that a bank receives approximately </a:t>
            </a:r>
            <a:r>
              <a:rPr lang="en-IN" b="1" dirty="0"/>
              <a:t>3,000 personal loan applications every month</a:t>
            </a:r>
            <a:r>
              <a:rPr lang="en-IN" dirty="0"/>
              <a:t>.</a:t>
            </a:r>
          </a:p>
          <a:p>
            <a:r>
              <a:rPr lang="en-IN" dirty="0"/>
              <a:t>Currently, every application goes through manual credit review, and each review takes around </a:t>
            </a:r>
            <a:r>
              <a:rPr lang="en-IN" b="1" dirty="0"/>
              <a:t>25 minutes</a:t>
            </a:r>
            <a:r>
              <a:rPr lang="en-IN" dirty="0"/>
              <a:t>.</a:t>
            </a:r>
          </a:p>
          <a:p>
            <a:r>
              <a:rPr lang="en-IN" dirty="0"/>
              <a:t>So, the bank spends approximately </a:t>
            </a:r>
            <a:r>
              <a:rPr lang="en-IN" b="1" dirty="0"/>
              <a:t>1,250 analyst hours every month</a:t>
            </a:r>
            <a:r>
              <a:rPr lang="en-IN" dirty="0"/>
              <a:t> reviewing loan applications.</a:t>
            </a:r>
          </a:p>
          <a:p>
            <a:endParaRPr lang="en-IN" dirty="0"/>
          </a:p>
          <a:p>
            <a:r>
              <a:rPr lang="en-IN" dirty="0"/>
              <a:t>But not every application needs the same level of attention. Some applications are clear cases, while others require detailed analysis.</a:t>
            </a:r>
          </a:p>
          <a:p>
            <a:r>
              <a:rPr lang="en-IN" dirty="0"/>
              <a:t>So, our main question is: </a:t>
            </a:r>
            <a:r>
              <a:rPr lang="en-IN" b="1" dirty="0"/>
              <a:t>Can we reduce manual workload using machine learning while keeping incorrect automated decisions within the bank's 5% error limit?</a:t>
            </a:r>
            <a:endParaRPr lang="en-IN" dirty="0"/>
          </a:p>
          <a:p>
            <a:r>
              <a:rPr lang="en-IN" dirty="0"/>
              <a:t>To understand this problem clearly, I used the CBIM Problem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To understand the business problem clearly, I used the </a:t>
            </a:r>
            <a:r>
              <a:rPr lang="en-IN" b="1" dirty="0"/>
              <a:t>CBIM Problem Canvas</a:t>
            </a:r>
            <a:r>
              <a:rPr lang="en-IN" dirty="0"/>
              <a:t>.</a:t>
            </a:r>
          </a:p>
          <a:p>
            <a:r>
              <a:rPr lang="en-IN" dirty="0"/>
              <a:t>It has six parts.</a:t>
            </a:r>
          </a:p>
          <a:p>
            <a:r>
              <a:rPr lang="en-IN" b="1" dirty="0"/>
              <a:t>Situation:</a:t>
            </a:r>
            <a:r>
              <a:rPr lang="en-IN" dirty="0"/>
              <a:t> The bank receives 3,000 applications monthly, and each review takes 25 minutes.</a:t>
            </a:r>
          </a:p>
          <a:p>
            <a:r>
              <a:rPr lang="en-IN" b="1" dirty="0"/>
              <a:t>Complication:</a:t>
            </a:r>
            <a:r>
              <a:rPr lang="en-IN" dirty="0"/>
              <a:t> Manual reviews take a lot of time, and incorrect decisions can create risks.</a:t>
            </a:r>
          </a:p>
          <a:p>
            <a:r>
              <a:rPr lang="en-IN" b="1" dirty="0"/>
              <a:t>Question:</a:t>
            </a:r>
            <a:r>
              <a:rPr lang="en-IN" dirty="0"/>
              <a:t> Which applications can we process without a full manual review?</a:t>
            </a:r>
          </a:p>
          <a:p>
            <a:r>
              <a:rPr lang="en-IN" b="1" dirty="0"/>
              <a:t>SSOT:</a:t>
            </a:r>
            <a:r>
              <a:rPr lang="en-IN" dirty="0"/>
              <a:t> We have 12,000 historical loan applications and their final decisions.</a:t>
            </a:r>
          </a:p>
          <a:p>
            <a:r>
              <a:rPr lang="en-IN" b="1" dirty="0"/>
              <a:t>Success Definition:</a:t>
            </a:r>
            <a:r>
              <a:rPr lang="en-IN" dirty="0"/>
              <a:t> Keep the error rate within 5% for each automated decision lane.</a:t>
            </a:r>
          </a:p>
          <a:p>
            <a:r>
              <a:rPr lang="en-IN" b="1" dirty="0"/>
              <a:t>Stakeholder:</a:t>
            </a:r>
            <a:r>
              <a:rPr lang="en-IN" dirty="0"/>
              <a:t> The Credit Operations Manager and credit risk team.</a:t>
            </a:r>
          </a:p>
          <a:p>
            <a:r>
              <a:rPr lang="en-IN" dirty="0"/>
              <a:t>So, our main focus is to </a:t>
            </a:r>
            <a:r>
              <a:rPr lang="en-IN" b="1" dirty="0"/>
              <a:t>automate clear cases and keep uncertain cases for human review</a:t>
            </a:r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Now, coming to our dataset.</a:t>
            </a:r>
          </a:p>
          <a:p>
            <a:r>
              <a:rPr lang="en-IN" dirty="0"/>
              <a:t>We have </a:t>
            </a:r>
            <a:r>
              <a:rPr lang="en-IN" b="1" dirty="0"/>
              <a:t>12,000 historical loan applications</a:t>
            </a:r>
            <a:r>
              <a:rPr lang="en-IN" dirty="0"/>
              <a:t> with 19 original columns, covering six months of data.</a:t>
            </a:r>
          </a:p>
          <a:p>
            <a:r>
              <a:rPr lang="en-IN" dirty="0"/>
              <a:t>Our target column is the bank's final decision, which has two categories: </a:t>
            </a:r>
            <a:r>
              <a:rPr lang="en-IN" b="1" dirty="0"/>
              <a:t>Approved and Declined</a:t>
            </a:r>
            <a:r>
              <a:rPr lang="en-IN" dirty="0"/>
              <a:t>.</a:t>
            </a:r>
          </a:p>
          <a:p>
            <a:r>
              <a:rPr lang="en-IN" dirty="0"/>
              <a:t>Around </a:t>
            </a:r>
            <a:r>
              <a:rPr lang="en-IN" b="1" dirty="0"/>
              <a:t>53% of applications were approved</a:t>
            </a:r>
            <a:r>
              <a:rPr lang="en-IN" dirty="0"/>
              <a:t>, and </a:t>
            </a:r>
            <a:r>
              <a:rPr lang="en-IN" b="1" dirty="0"/>
              <a:t>47% were declined</a:t>
            </a:r>
            <a:r>
              <a:rPr lang="en-IN" dirty="0"/>
              <a:t>.</a:t>
            </a:r>
          </a:p>
          <a:p>
            <a:r>
              <a:rPr lang="en-IN" dirty="0"/>
              <a:t>One important point is that we are predicting the bank's historical decisions, </a:t>
            </a:r>
            <a:r>
              <a:rPr lang="en-IN" b="1" dirty="0"/>
              <a:t>not whether customers will actually repay their loans</a:t>
            </a:r>
            <a:r>
              <a:rPr lang="en-IN" dirty="0"/>
              <a:t>.</a:t>
            </a:r>
          </a:p>
          <a:p>
            <a:r>
              <a:rPr lang="en-IN" dirty="0"/>
              <a:t>Now, let's see how I cleaned and prepared this data for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Now, let's see how I cleaned the dataset.</a:t>
            </a:r>
          </a:p>
          <a:p>
            <a:r>
              <a:rPr lang="en-IN" dirty="0"/>
              <a:t>First, I found </a:t>
            </a:r>
            <a:r>
              <a:rPr lang="en-IN" b="1" dirty="0"/>
              <a:t>441 missing income values</a:t>
            </a:r>
            <a:r>
              <a:rPr lang="en-IN" dirty="0"/>
              <a:t>. I filled them using the median income of each employment type.</a:t>
            </a:r>
          </a:p>
          <a:p>
            <a:r>
              <a:rPr lang="en-IN" dirty="0"/>
              <a:t>Next, I found </a:t>
            </a:r>
            <a:r>
              <a:rPr lang="en-IN" b="1" dirty="0"/>
              <a:t>1,039 missing credit scores</a:t>
            </a:r>
            <a:r>
              <a:rPr lang="en-IN" dirty="0"/>
              <a:t>. These were mainly new-to-credit applicants, so instead of removing them, I created an indicator to identify them.</a:t>
            </a:r>
          </a:p>
          <a:p>
            <a:r>
              <a:rPr lang="en-IN" dirty="0"/>
              <a:t>I also checked unusual values to make sure we were not removing valid applications.</a:t>
            </a:r>
          </a:p>
          <a:p>
            <a:r>
              <a:rPr lang="en-IN" dirty="0"/>
              <a:t>One important thing is that I used </a:t>
            </a:r>
            <a:r>
              <a:rPr lang="en-IN" b="1" dirty="0"/>
              <a:t>only training data to learn the missing-value replacements</a:t>
            </a:r>
            <a:r>
              <a:rPr lang="en-IN" dirty="0"/>
              <a:t>, to avoid data leakage.</a:t>
            </a:r>
          </a:p>
          <a:p>
            <a:r>
              <a:rPr lang="en-IN" dirty="0"/>
              <a:t>After cleaning, I moved on to Exploratory Data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 EDA, my main goal was to understand </a:t>
            </a:r>
            <a:r>
              <a:rPr lang="en-IN" b="1" dirty="0"/>
              <a:t>what factors influence the bank's approval decisions</a:t>
            </a:r>
            <a:r>
              <a:rPr lang="en-IN" dirty="0"/>
              <a:t>.</a:t>
            </a:r>
          </a:p>
          <a:p>
            <a:r>
              <a:rPr lang="en-IN" dirty="0"/>
              <a:t>First, I analysed credit scores and found that applicants with higher credit scores generally had higher approval rates.</a:t>
            </a:r>
          </a:p>
          <a:p>
            <a:r>
              <a:rPr lang="en-IN" dirty="0"/>
              <a:t>Next, I looked at </a:t>
            </a:r>
            <a:r>
              <a:rPr lang="en-IN" b="1" dirty="0"/>
              <a:t>FOIR</a:t>
            </a:r>
            <a:r>
              <a:rPr lang="en-IN" dirty="0"/>
              <a:t>, which tells us how much of a person's monthly income goes towards loan EMIs. Applicants with higher FOIR generally had lower approval rates.</a:t>
            </a:r>
          </a:p>
          <a:p>
            <a:r>
              <a:rPr lang="en-IN" dirty="0"/>
              <a:t>I also compared approval rates across different employment types to understand how decisions varied between groups.</a:t>
            </a:r>
          </a:p>
          <a:p>
            <a:r>
              <a:rPr lang="en-IN" dirty="0"/>
              <a:t>From this analysis, I understood that </a:t>
            </a:r>
            <a:r>
              <a:rPr lang="en-IN" b="1" dirty="0"/>
              <a:t>credit history and repayment capacity play important roles in the bank's historical decisions</a:t>
            </a:r>
            <a:r>
              <a:rPr lang="en-IN" dirty="0"/>
              <a:t>.</a:t>
            </a:r>
          </a:p>
          <a:p>
            <a:r>
              <a:rPr lang="en-IN" dirty="0"/>
              <a:t>Based on these findings, I moved on to feature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EDA, I moved on to </a:t>
            </a:r>
            <a:r>
              <a:rPr lang="en-IN" b="1" dirty="0"/>
              <a:t>Feature Engineering</a:t>
            </a:r>
            <a:r>
              <a:rPr lang="en-IN" dirty="0"/>
              <a:t>.</a:t>
            </a:r>
          </a:p>
          <a:p>
            <a:r>
              <a:rPr lang="en-IN" dirty="0"/>
              <a:t>Here, I created three important features to help the model understand applicants better.</a:t>
            </a:r>
          </a:p>
          <a:p>
            <a:endParaRPr lang="en-IN" dirty="0"/>
          </a:p>
          <a:p>
            <a:r>
              <a:rPr lang="en-IN" dirty="0"/>
              <a:t>First is </a:t>
            </a:r>
            <a:r>
              <a:rPr lang="en-IN" b="1" dirty="0"/>
              <a:t>FOIR</a:t>
            </a:r>
            <a:r>
              <a:rPr lang="en-IN" dirty="0"/>
              <a:t>, which is calculated by dividing total monthly EMIs by monthly income. It tells us how much income goes towards loan repayments.</a:t>
            </a:r>
          </a:p>
          <a:p>
            <a:r>
              <a:rPr lang="en-IN" dirty="0"/>
              <a:t>Second is </a:t>
            </a:r>
            <a:r>
              <a:rPr lang="en-IN" b="1" dirty="0"/>
              <a:t>Loan-to-Income Ratio</a:t>
            </a:r>
            <a:r>
              <a:rPr lang="en-IN" dirty="0"/>
              <a:t>, which compares the requested loan amount with the applicant's annual income.</a:t>
            </a:r>
          </a:p>
          <a:p>
            <a:r>
              <a:rPr lang="en-IN" dirty="0"/>
              <a:t>Third is </a:t>
            </a:r>
            <a:r>
              <a:rPr lang="en-IN" b="1" dirty="0"/>
              <a:t>New-to-Credit Indicator</a:t>
            </a:r>
            <a:r>
              <a:rPr lang="en-IN" dirty="0"/>
              <a:t>, which identifies applicants who don't have a credit history.</a:t>
            </a:r>
          </a:p>
          <a:p>
            <a:endParaRPr lang="en-IN" dirty="0"/>
          </a:p>
          <a:p>
            <a:r>
              <a:rPr lang="en-IN" dirty="0"/>
              <a:t>These features help the model understand an applicant's </a:t>
            </a:r>
            <a:r>
              <a:rPr lang="en-IN" b="1" dirty="0"/>
              <a:t>repayment burden, loan affordability and credit history</a:t>
            </a:r>
            <a:r>
              <a:rPr lang="en-IN" dirty="0"/>
              <a:t>.</a:t>
            </a:r>
          </a:p>
          <a:p>
            <a:r>
              <a:rPr lang="en-IN" dirty="0"/>
              <a:t>Next, I trained my first machine learning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For my first model, I used </a:t>
            </a:r>
            <a:r>
              <a:rPr lang="en-IN" b="1" dirty="0"/>
              <a:t>Logistic Regression</a:t>
            </a:r>
            <a:r>
              <a:rPr lang="en-IN" dirty="0"/>
              <a:t> as the baseline classifier.</a:t>
            </a:r>
          </a:p>
          <a:p>
            <a:r>
              <a:rPr lang="en-IN" dirty="0"/>
              <a:t>I split the dataset into </a:t>
            </a:r>
            <a:r>
              <a:rPr lang="en-IN" b="1" dirty="0"/>
              <a:t>80% training and 20% testing</a:t>
            </a:r>
            <a:r>
              <a:rPr lang="en-IN" dirty="0"/>
              <a:t>, which gives us 9,600 training records and 2,400 testing records.</a:t>
            </a:r>
          </a:p>
          <a:p>
            <a:r>
              <a:rPr lang="en-IN" dirty="0"/>
              <a:t>The model achieved </a:t>
            </a:r>
            <a:r>
              <a:rPr lang="en-IN" b="1" dirty="0"/>
              <a:t>79.04% accuracy</a:t>
            </a:r>
            <a:r>
              <a:rPr lang="en-IN" dirty="0"/>
              <a:t>.</a:t>
            </a:r>
          </a:p>
          <a:p>
            <a:r>
              <a:rPr lang="en-IN" dirty="0"/>
              <a:t>As you can see in the confusion matrix, </a:t>
            </a:r>
            <a:r>
              <a:rPr lang="en-IN" b="1" dirty="0"/>
              <a:t>1,046 approved and 851 declined applications were predicted correctly</a:t>
            </a:r>
            <a:r>
              <a:rPr lang="en-IN" dirty="0"/>
              <a:t>.</a:t>
            </a:r>
          </a:p>
          <a:p>
            <a:r>
              <a:rPr lang="en-IN" dirty="0"/>
              <a:t>However, </a:t>
            </a:r>
            <a:r>
              <a:rPr lang="en-IN" b="1" dirty="0"/>
              <a:t>225 historically approved applications were predicted as declined</a:t>
            </a:r>
            <a:r>
              <a:rPr lang="en-IN" dirty="0"/>
              <a:t>, and 278 declined applications were predicted as approved.</a:t>
            </a:r>
          </a:p>
          <a:p>
            <a:r>
              <a:rPr lang="en-IN" dirty="0"/>
              <a:t>For the declined class, the model achieved </a:t>
            </a:r>
            <a:r>
              <a:rPr lang="en-IN" b="1" dirty="0"/>
              <a:t>79.09% precision and 75.38% recall</a:t>
            </a:r>
            <a:r>
              <a:rPr lang="en-IN" dirty="0"/>
              <a:t>.</a:t>
            </a:r>
          </a:p>
          <a:p>
            <a:r>
              <a:rPr lang="en-IN" dirty="0"/>
              <a:t>So, Logistic Regression gave us a good starting point, but we needed to control incorrect automated decisions.</a:t>
            </a:r>
          </a:p>
          <a:p>
            <a:r>
              <a:rPr lang="en-IN" dirty="0"/>
              <a:t>That's why I moved on to threshold-based screening.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building the Logistic Regression model, I moved on to </a:t>
            </a:r>
            <a:r>
              <a:rPr lang="en-IN" b="1" dirty="0"/>
              <a:t>threshold-based screening</a:t>
            </a:r>
            <a:r>
              <a:rPr lang="en-IN" dirty="0"/>
              <a:t>.</a:t>
            </a:r>
          </a:p>
          <a:p>
            <a:r>
              <a:rPr lang="en-IN" dirty="0"/>
              <a:t>Normally, the model uses a 50% threshold to classify applications.</a:t>
            </a:r>
          </a:p>
          <a:p>
            <a:r>
              <a:rPr lang="en-IN" dirty="0"/>
              <a:t>But for automatic rejection, we need to be more careful.</a:t>
            </a:r>
          </a:p>
          <a:p>
            <a:r>
              <a:rPr lang="en-IN" dirty="0"/>
              <a:t>So, I set a </a:t>
            </a:r>
            <a:r>
              <a:rPr lang="en-IN" b="1" dirty="0"/>
              <a:t>90% decline-probability threshold</a:t>
            </a:r>
            <a:r>
              <a:rPr lang="en-IN" dirty="0"/>
              <a:t>. Only applications with a decline probability of 90% or above were selected for auto-decline. The remaining applications went for manual review.</a:t>
            </a:r>
          </a:p>
          <a:p>
            <a:r>
              <a:rPr lang="en-IN" dirty="0"/>
              <a:t>Out of 2,400 test applications, </a:t>
            </a:r>
            <a:r>
              <a:rPr lang="en-IN" b="1" dirty="0"/>
              <a:t>363 were selected for auto-decline</a:t>
            </a:r>
            <a:r>
              <a:rPr lang="en-IN" dirty="0"/>
              <a:t>, with a </a:t>
            </a:r>
            <a:r>
              <a:rPr lang="en-IN" b="1" dirty="0"/>
              <a:t>4.68% historical error rate</a:t>
            </a:r>
            <a:r>
              <a:rPr lang="en-IN" dirty="0"/>
              <a:t>.</a:t>
            </a:r>
          </a:p>
          <a:p>
            <a:r>
              <a:rPr lang="en-IN" dirty="0"/>
              <a:t>This means we could automate </a:t>
            </a:r>
            <a:r>
              <a:rPr lang="en-IN" b="1" dirty="0"/>
              <a:t>15.12% of applications</a:t>
            </a:r>
            <a:r>
              <a:rPr lang="en-IN" dirty="0"/>
              <a:t> while staying within the 5% limit.</a:t>
            </a:r>
          </a:p>
          <a:p>
            <a:r>
              <a:rPr lang="en-IN" dirty="0"/>
              <a:t>Next, I checked whether this screening approach was fair across different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threshold-based screening, I performed a </a:t>
            </a:r>
            <a:r>
              <a:rPr lang="en-IN" b="1" dirty="0"/>
              <a:t>fairness analysis</a:t>
            </a:r>
            <a:r>
              <a:rPr lang="en-IN" dirty="0"/>
              <a:t>.</a:t>
            </a:r>
          </a:p>
          <a:p>
            <a:r>
              <a:rPr lang="en-IN" dirty="0"/>
              <a:t>My goal was to check whether the model was treating male and female applicants differently.</a:t>
            </a:r>
          </a:p>
          <a:p>
            <a:r>
              <a:rPr lang="en-IN" dirty="0"/>
              <a:t>I compared the percentage of applicants selected for auto-decline in both groups.</a:t>
            </a:r>
          </a:p>
          <a:p>
            <a:r>
              <a:rPr lang="en-IN" dirty="0"/>
              <a:t>The auto-decline rate was </a:t>
            </a:r>
            <a:r>
              <a:rPr lang="en-IN" b="1" dirty="0"/>
              <a:t>15.60% for female applicants</a:t>
            </a:r>
            <a:r>
              <a:rPr lang="en-IN" dirty="0"/>
              <a:t> and </a:t>
            </a:r>
            <a:r>
              <a:rPr lang="en-IN" b="1" dirty="0"/>
              <a:t>14.91% for male applicants</a:t>
            </a:r>
            <a:r>
              <a:rPr lang="en-IN" dirty="0"/>
              <a:t>.</a:t>
            </a:r>
          </a:p>
          <a:p>
            <a:r>
              <a:rPr lang="en-IN" dirty="0"/>
              <a:t>So, the difference was only </a:t>
            </a:r>
            <a:r>
              <a:rPr lang="en-IN" b="1" dirty="0"/>
              <a:t>0.69 percentage points</a:t>
            </a:r>
            <a:r>
              <a:rPr lang="en-IN" dirty="0"/>
              <a:t>.</a:t>
            </a:r>
          </a:p>
          <a:p>
            <a:r>
              <a:rPr lang="en-IN" dirty="0"/>
              <a:t>I also excluded gender from the model's input features.</a:t>
            </a:r>
          </a:p>
          <a:p>
            <a:r>
              <a:rPr lang="en-IN" dirty="0"/>
              <a:t>However, similar selection rates alone do not guarantee complete fairness, so further checks are important.</a:t>
            </a:r>
          </a:p>
          <a:p>
            <a:r>
              <a:rPr lang="en-IN" dirty="0"/>
              <a:t>After this, I moved on to building a reusable machine learning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fairness analysis, I built an </a:t>
            </a:r>
            <a:r>
              <a:rPr lang="en-IN" b="1" dirty="0"/>
              <a:t>end-to-end machine learning Pipeline</a:t>
            </a:r>
            <a:r>
              <a:rPr lang="en-IN" dirty="0"/>
              <a:t>.</a:t>
            </a:r>
          </a:p>
          <a:p>
            <a:r>
              <a:rPr lang="en-IN" dirty="0"/>
              <a:t>The main purpose of this Pipeline is to automate preprocessing and prediction in a consistent way.</a:t>
            </a:r>
          </a:p>
          <a:p>
            <a:r>
              <a:rPr lang="en-IN" dirty="0"/>
              <a:t>As you can see, it has </a:t>
            </a:r>
            <a:r>
              <a:rPr lang="en-IN" b="1" dirty="0"/>
              <a:t>five stages</a:t>
            </a:r>
            <a:r>
              <a:rPr lang="en-IN" dirty="0"/>
              <a:t>.</a:t>
            </a:r>
          </a:p>
          <a:p>
            <a:r>
              <a:rPr lang="en-IN" dirty="0"/>
              <a:t>First, we take the raw applicant data.</a:t>
            </a:r>
          </a:p>
          <a:p>
            <a:r>
              <a:rPr lang="en-IN" dirty="0"/>
              <a:t>Second, we fill missing income values.</a:t>
            </a:r>
          </a:p>
          <a:p>
            <a:r>
              <a:rPr lang="en-IN" dirty="0"/>
              <a:t>Third, we create features like </a:t>
            </a:r>
            <a:r>
              <a:rPr lang="en-IN" b="1" dirty="0"/>
              <a:t>FOIR, Loan-to-Income Ratio and New-to-Credit Indicator</a:t>
            </a:r>
            <a:r>
              <a:rPr lang="en-IN" dirty="0"/>
              <a:t>.</a:t>
            </a:r>
          </a:p>
          <a:p>
            <a:r>
              <a:rPr lang="en-IN" dirty="0"/>
              <a:t>Fourth, we perform scaling and encoding to prepare the data for the model.</a:t>
            </a:r>
          </a:p>
          <a:p>
            <a:r>
              <a:rPr lang="en-IN" dirty="0"/>
              <a:t>Finally, the model predicts the approval or decline probability.</a:t>
            </a:r>
          </a:p>
          <a:p>
            <a:r>
              <a:rPr lang="en-IN" dirty="0"/>
              <a:t>The advantage is that </a:t>
            </a:r>
            <a:r>
              <a:rPr lang="en-IN" b="1" dirty="0"/>
              <a:t>the same preprocessing steps are automatically applied to new applications</a:t>
            </a:r>
            <a:r>
              <a:rPr lang="en-IN" dirty="0"/>
              <a:t>, reducing manual errors and data leakage.</a:t>
            </a:r>
          </a:p>
          <a:p>
            <a:r>
              <a:rPr lang="en-IN" dirty="0"/>
              <a:t>Next, I compared different machine learning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building the Pipeline, I moved on to </a:t>
            </a:r>
            <a:r>
              <a:rPr lang="en-IN" b="1" dirty="0"/>
              <a:t>model comparison</a:t>
            </a:r>
            <a:r>
              <a:rPr lang="en-IN" dirty="0"/>
              <a:t>.</a:t>
            </a:r>
          </a:p>
          <a:p>
            <a:r>
              <a:rPr lang="en-IN" dirty="0"/>
              <a:t>Instead of depending on a single train-test split, I used </a:t>
            </a:r>
            <a:r>
              <a:rPr lang="en-IN" b="1" dirty="0"/>
              <a:t>5-fold Stratified Cross-Validation</a:t>
            </a:r>
            <a:r>
              <a:rPr lang="en-IN" dirty="0"/>
              <a:t>.</a:t>
            </a:r>
          </a:p>
          <a:p>
            <a:r>
              <a:rPr lang="en-IN" dirty="0"/>
              <a:t>Here, the training data is divided into five parts. We train on four parts and validate on the remaining part, repeating this process five times.</a:t>
            </a:r>
          </a:p>
          <a:p>
            <a:r>
              <a:rPr lang="en-IN" dirty="0"/>
              <a:t>I compared four models using </a:t>
            </a:r>
            <a:r>
              <a:rPr lang="en-IN" b="1" dirty="0"/>
              <a:t>ROC-AUC</a:t>
            </a:r>
            <a:r>
              <a:rPr lang="en-IN" dirty="0"/>
              <a:t>, which measures how well a model separates approved and declined applications.</a:t>
            </a:r>
          </a:p>
          <a:p>
            <a:r>
              <a:rPr lang="en-IN" dirty="0"/>
              <a:t>As you can see, </a:t>
            </a:r>
            <a:r>
              <a:rPr lang="en-IN" b="1" dirty="0"/>
              <a:t>Gradient Boosting performed best with a score of 0.8894</a:t>
            </a:r>
            <a:r>
              <a:rPr lang="en-IN" dirty="0"/>
              <a:t>, followed by Random Forest, Logistic Regression and Decision Tree.</a:t>
            </a:r>
          </a:p>
          <a:p>
            <a:r>
              <a:rPr lang="en-IN" dirty="0"/>
              <a:t>So, I selected </a:t>
            </a:r>
            <a:r>
              <a:rPr lang="en-IN" b="1" dirty="0"/>
              <a:t>Gradient Boosting</a:t>
            </a:r>
            <a:r>
              <a:rPr lang="en-IN" dirty="0"/>
              <a:t> for further evaluation and threshold optimisation.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selecting </a:t>
            </a:r>
            <a:r>
              <a:rPr lang="en-IN" b="1" dirty="0"/>
              <a:t>Gradient Boosting</a:t>
            </a:r>
            <a:r>
              <a:rPr lang="en-IN" dirty="0"/>
              <a:t> through cross-validation, I evaluated it on the test data.</a:t>
            </a:r>
          </a:p>
          <a:p>
            <a:r>
              <a:rPr lang="en-IN" dirty="0"/>
              <a:t>The model achieved </a:t>
            </a:r>
            <a:r>
              <a:rPr lang="en-IN" b="1" dirty="0"/>
              <a:t>80.42% accuracy</a:t>
            </a:r>
            <a:r>
              <a:rPr lang="en-IN" dirty="0"/>
              <a:t> and a </a:t>
            </a:r>
            <a:r>
              <a:rPr lang="en-IN" b="1" dirty="0"/>
              <a:t>ROC-AUC score of 0.8848</a:t>
            </a:r>
            <a:r>
              <a:rPr lang="en-IN" dirty="0"/>
              <a:t>.</a:t>
            </a:r>
          </a:p>
          <a:p>
            <a:r>
              <a:rPr lang="en-IN" dirty="0"/>
              <a:t>For the declined class, it achieved </a:t>
            </a:r>
            <a:r>
              <a:rPr lang="en-IN" b="1" dirty="0"/>
              <a:t>81.77% precision and 75.11% recall</a:t>
            </a:r>
            <a:r>
              <a:rPr lang="en-IN" dirty="0"/>
              <a:t>.</a:t>
            </a:r>
          </a:p>
          <a:p>
            <a:r>
              <a:rPr lang="en-IN" dirty="0"/>
              <a:t>Compared to Logistic Regression, Gradient Boosting gave us better overall performance.</a:t>
            </a:r>
          </a:p>
          <a:p>
            <a:r>
              <a:rPr lang="en-IN" dirty="0"/>
              <a:t>However, accuracy alone is not enough for automatic loan decisions. We also need to control incorrect approvals and declines.</a:t>
            </a:r>
          </a:p>
          <a:p>
            <a:r>
              <a:rPr lang="en-IN" dirty="0"/>
              <a:t>So, next I analysed which features were most important for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evaluating Gradient Boosting, I checked </a:t>
            </a:r>
            <a:r>
              <a:rPr lang="en-IN" b="1" dirty="0"/>
              <a:t>feature importance</a:t>
            </a:r>
            <a:r>
              <a:rPr lang="en-IN" dirty="0"/>
              <a:t> to understand which features influenced its predictions the most.</a:t>
            </a:r>
          </a:p>
          <a:p>
            <a:r>
              <a:rPr lang="en-IN" dirty="0"/>
              <a:t>As you can see, the top three features were:</a:t>
            </a:r>
          </a:p>
          <a:p>
            <a:r>
              <a:rPr lang="en-IN" dirty="0"/>
              <a:t>First, </a:t>
            </a:r>
            <a:r>
              <a:rPr lang="en-IN" b="1" dirty="0"/>
              <a:t>Delinquencies</a:t>
            </a:r>
            <a:r>
              <a:rPr lang="en-IN" dirty="0"/>
              <a:t>, with 30.46% importance. This represents missed or delayed payments in the past.</a:t>
            </a:r>
          </a:p>
          <a:p>
            <a:r>
              <a:rPr lang="en-IN" dirty="0"/>
              <a:t>Second, </a:t>
            </a:r>
            <a:r>
              <a:rPr lang="en-IN" b="1" dirty="0"/>
              <a:t>Credit Score</a:t>
            </a:r>
            <a:r>
              <a:rPr lang="en-IN" dirty="0"/>
              <a:t>, with 29% importance. It reflects the applicant's credit history.</a:t>
            </a:r>
          </a:p>
          <a:p>
            <a:r>
              <a:rPr lang="en-IN" dirty="0"/>
              <a:t>Third, </a:t>
            </a:r>
            <a:r>
              <a:rPr lang="en-IN" b="1" dirty="0"/>
              <a:t>FOIR</a:t>
            </a:r>
            <a:r>
              <a:rPr lang="en-IN" dirty="0"/>
              <a:t>, with 28.67% importance. It measures how much monthly income goes towards loan EMIs.</a:t>
            </a:r>
          </a:p>
          <a:p>
            <a:r>
              <a:rPr lang="en-IN" dirty="0"/>
              <a:t>Together, these three features contributed around </a:t>
            </a:r>
            <a:r>
              <a:rPr lang="en-IN" b="1" dirty="0"/>
              <a:t>88% of the model's total feature importance</a:t>
            </a:r>
            <a:r>
              <a:rPr lang="en-IN" dirty="0"/>
              <a:t>.</a:t>
            </a:r>
          </a:p>
          <a:p>
            <a:r>
              <a:rPr lang="en-IN" dirty="0"/>
              <a:t>This helped me understand which information the model relied on most, although feature importance does not prove cause and effect.</a:t>
            </a:r>
          </a:p>
          <a:p>
            <a:r>
              <a:rPr lang="en-IN" dirty="0"/>
              <a:t>Next, I used the model to design our three-lane credit screening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selecting Gradient Boosting, I designed a </a:t>
            </a:r>
            <a:r>
              <a:rPr lang="en-IN" b="1" dirty="0"/>
              <a:t>three-lane credit pre-screening system</a:t>
            </a:r>
            <a:r>
              <a:rPr lang="en-IN" dirty="0"/>
              <a:t>.</a:t>
            </a:r>
          </a:p>
          <a:p>
            <a:r>
              <a:rPr lang="en-IN" dirty="0"/>
              <a:t>The main idea is to divide loan applications into three groups based on their predicted approval probability.</a:t>
            </a:r>
          </a:p>
          <a:p>
            <a:r>
              <a:rPr lang="en-IN" b="1" dirty="0"/>
              <a:t>First is Auto-Decline:</a:t>
            </a:r>
            <a:r>
              <a:rPr lang="en-IN" dirty="0"/>
              <a:t> Applications with very low approval probability are selected for automatic decline.</a:t>
            </a:r>
          </a:p>
          <a:p>
            <a:r>
              <a:rPr lang="en-IN" b="1" dirty="0"/>
              <a:t>Second is Manual Review:</a:t>
            </a:r>
            <a:r>
              <a:rPr lang="en-IN" dirty="0"/>
              <a:t> Applications where the model is uncertain are sent to human analysts.</a:t>
            </a:r>
          </a:p>
          <a:p>
            <a:r>
              <a:rPr lang="en-IN" b="1" dirty="0"/>
              <a:t>Third is Fast-Track:</a:t>
            </a:r>
            <a:r>
              <a:rPr lang="en-IN" dirty="0"/>
              <a:t> Applications with high approval probability are selected for quicker verification.</a:t>
            </a:r>
          </a:p>
          <a:p>
            <a:r>
              <a:rPr lang="en-IN" dirty="0"/>
              <a:t>This way, </a:t>
            </a:r>
            <a:r>
              <a:rPr lang="en-IN" b="1" dirty="0"/>
              <a:t>human analysts can focus more on uncertain cases</a:t>
            </a:r>
            <a:r>
              <a:rPr lang="en-IN" dirty="0"/>
              <a:t>, while clear applications can be processed faster.</a:t>
            </a:r>
          </a:p>
          <a:p>
            <a:r>
              <a:rPr lang="en-IN" dirty="0"/>
              <a:t>Next, I tested this approach using different probability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Now, coming to the </a:t>
            </a:r>
            <a:r>
              <a:rPr lang="en-IN" b="1" dirty="0"/>
              <a:t>main results of our credit pre-screening system</a:t>
            </a:r>
            <a:r>
              <a:rPr lang="en-IN" dirty="0"/>
              <a:t>.</a:t>
            </a:r>
          </a:p>
          <a:p>
            <a:r>
              <a:rPr lang="en-IN" dirty="0"/>
              <a:t>Using Gradient Boosting, I selected two approval-probability thresholds.</a:t>
            </a:r>
          </a:p>
          <a:p>
            <a:r>
              <a:rPr lang="en-IN" dirty="0"/>
              <a:t>Applications with approval probability </a:t>
            </a:r>
            <a:r>
              <a:rPr lang="en-IN" b="1" dirty="0"/>
              <a:t>below 17.40% were auto-declined</a:t>
            </a:r>
            <a:r>
              <a:rPr lang="en-IN" dirty="0"/>
              <a:t>, while those </a:t>
            </a:r>
            <a:r>
              <a:rPr lang="en-IN" b="1" dirty="0"/>
              <a:t>above 88.69% were fast-tracked</a:t>
            </a:r>
            <a:r>
              <a:rPr lang="en-IN" dirty="0"/>
              <a:t>. The remaining applications went for manual review.</a:t>
            </a:r>
          </a:p>
          <a:p>
            <a:r>
              <a:rPr lang="en-IN" dirty="0"/>
              <a:t>Out of 2,400 test applications, </a:t>
            </a:r>
            <a:r>
              <a:rPr lang="en-IN" b="1" dirty="0"/>
              <a:t>590 were auto-declined, 465 were fast-tracked, and 1,345 required manual review</a:t>
            </a:r>
            <a:r>
              <a:rPr lang="en-IN" dirty="0"/>
              <a:t>.</a:t>
            </a:r>
          </a:p>
          <a:p>
            <a:r>
              <a:rPr lang="en-IN" dirty="0"/>
              <a:t>So, we achieved </a:t>
            </a:r>
            <a:r>
              <a:rPr lang="en-IN" b="1" dirty="0"/>
              <a:t>43.96% automation</a:t>
            </a:r>
            <a:r>
              <a:rPr lang="en-IN" dirty="0"/>
              <a:t>, with historical error rates of </a:t>
            </a:r>
            <a:r>
              <a:rPr lang="en-IN" b="1" dirty="0"/>
              <a:t>4.92% for auto-decline and 4.95% for fast-track</a:t>
            </a:r>
            <a:r>
              <a:rPr lang="en-IN" dirty="0"/>
              <a:t>.</a:t>
            </a:r>
          </a:p>
          <a:p>
            <a:r>
              <a:rPr lang="en-IN" dirty="0"/>
              <a:t>Both were within the assignment's 5% limit, and Gradient Boosting automated more cases than Logistic Regression.</a:t>
            </a:r>
          </a:p>
          <a:p>
            <a:r>
              <a:rPr lang="en-IN" dirty="0"/>
              <a:t>However, these are historical test results, so further validation is needed before real-world use.</a:t>
            </a:r>
          </a:p>
          <a:p>
            <a:r>
              <a:rPr lang="en-IN" dirty="0"/>
              <a:t>Next, let's see what this means in terms of business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achieving </a:t>
            </a:r>
            <a:r>
              <a:rPr lang="en-IN" b="1" dirty="0"/>
              <a:t>43.96% automation</a:t>
            </a:r>
            <a:r>
              <a:rPr lang="en-IN" dirty="0"/>
              <a:t>, I calculated the business impact.</a:t>
            </a:r>
          </a:p>
          <a:p>
            <a:r>
              <a:rPr lang="en-IN" dirty="0"/>
              <a:t>As we discussed earlier, the bank receives around </a:t>
            </a:r>
            <a:r>
              <a:rPr lang="en-IN" b="1" dirty="0"/>
              <a:t>3,000 applications every month</a:t>
            </a:r>
            <a:r>
              <a:rPr lang="en-IN" dirty="0"/>
              <a:t>, and each manual review takes 25 minutes.</a:t>
            </a:r>
          </a:p>
          <a:p>
            <a:r>
              <a:rPr lang="en-IN" dirty="0"/>
              <a:t>With our Gradient Boosting screening system, approximately </a:t>
            </a:r>
            <a:r>
              <a:rPr lang="en-IN" b="1" dirty="0"/>
              <a:t>1,319 applications could avoid full manual review</a:t>
            </a:r>
            <a:r>
              <a:rPr lang="en-IN" dirty="0"/>
              <a:t> every month.</a:t>
            </a:r>
          </a:p>
          <a:p>
            <a:r>
              <a:rPr lang="en-IN" dirty="0"/>
              <a:t>This means the bank could potentially save around </a:t>
            </a:r>
            <a:r>
              <a:rPr lang="en-IN" b="1" dirty="0"/>
              <a:t>549 hours of analyst time per month</a:t>
            </a:r>
            <a:r>
              <a:rPr lang="en-IN" dirty="0"/>
              <a:t>.</a:t>
            </a:r>
          </a:p>
          <a:p>
            <a:r>
              <a:rPr lang="en-IN" dirty="0"/>
              <a:t>However, these are gross savings, because fast-tracked applications may still require some verification.</a:t>
            </a:r>
          </a:p>
          <a:p>
            <a:r>
              <a:rPr lang="en-IN" dirty="0"/>
              <a:t>The main benefit is that </a:t>
            </a:r>
            <a:r>
              <a:rPr lang="en-IN" b="1" dirty="0"/>
              <a:t>analysts can spend more time on applications that actually need human judgement</a:t>
            </a:r>
            <a:r>
              <a:rPr lang="en-IN" dirty="0"/>
              <a:t>.</a:t>
            </a:r>
          </a:p>
          <a:p>
            <a:r>
              <a:rPr lang="en-IN" dirty="0"/>
              <a:t>Next, I checked how reliable our threshold selection process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calculating the business impact, I wanted to check </a:t>
            </a:r>
            <a:r>
              <a:rPr lang="en-IN" b="1" dirty="0"/>
              <a:t>whether our threshold results were reliable</a:t>
            </a:r>
            <a:r>
              <a:rPr lang="en-IN" dirty="0"/>
              <a:t>.</a:t>
            </a:r>
          </a:p>
          <a:p>
            <a:r>
              <a:rPr lang="en-IN" dirty="0"/>
              <a:t>In our original approach, we selected the thresholds and evaluated them using the same test data.</a:t>
            </a:r>
          </a:p>
          <a:p>
            <a:r>
              <a:rPr lang="en-IN" dirty="0"/>
              <a:t>This can give us overly optimistic results because the thresholds are already adjusted to that data.</a:t>
            </a:r>
          </a:p>
          <a:p>
            <a:r>
              <a:rPr lang="en-IN" dirty="0"/>
              <a:t>So, I performed an additional experiment using separate </a:t>
            </a:r>
            <a:r>
              <a:rPr lang="en-IN" b="1" dirty="0"/>
              <a:t>training, validation and test sets</a:t>
            </a:r>
            <a:r>
              <a:rPr lang="en-IN" dirty="0"/>
              <a:t>.</a:t>
            </a:r>
          </a:p>
          <a:p>
            <a:r>
              <a:rPr lang="en-IN" dirty="0"/>
              <a:t>Here, the training set is used to build the model, the validation set is used to select thresholds, and the test set is used to evaluate them.</a:t>
            </a:r>
          </a:p>
          <a:p>
            <a:r>
              <a:rPr lang="en-IN" dirty="0"/>
              <a:t>The main purpose was to make our evaluation more reliable.</a:t>
            </a:r>
          </a:p>
          <a:p>
            <a:r>
              <a:rPr lang="en-IN" dirty="0"/>
              <a:t>However, the test data had already been examined in earlier experiments, so fresh independent testing would still be needed.</a:t>
            </a:r>
          </a:p>
          <a:p>
            <a:r>
              <a:rPr lang="en-IN" dirty="0"/>
              <a:t>Next, let's see the results of this validation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separating the data into training, validation and testing, I performed the </a:t>
            </a:r>
            <a:r>
              <a:rPr lang="en-IN" b="1" dirty="0"/>
              <a:t>validation experiment</a:t>
            </a:r>
            <a:r>
              <a:rPr lang="en-IN" dirty="0"/>
              <a:t>.</a:t>
            </a:r>
          </a:p>
          <a:p>
            <a:r>
              <a:rPr lang="en-IN" dirty="0"/>
              <a:t>I used </a:t>
            </a:r>
            <a:r>
              <a:rPr lang="en-IN" b="1" dirty="0"/>
              <a:t>7,680 records for training, 1,920 for validation and 2,400 for testing</a:t>
            </a:r>
            <a:r>
              <a:rPr lang="en-IN" dirty="0"/>
              <a:t>.</a:t>
            </a:r>
          </a:p>
          <a:p>
            <a:r>
              <a:rPr lang="en-IN" dirty="0"/>
              <a:t>This time, I selected the thresholds using the validation data instead of directly using the test data.</a:t>
            </a:r>
          </a:p>
          <a:p>
            <a:r>
              <a:rPr lang="en-IN" dirty="0"/>
              <a:t>The Gradient Boosting model achieved </a:t>
            </a:r>
            <a:r>
              <a:rPr lang="en-IN" b="1" dirty="0"/>
              <a:t>43.71% automation</a:t>
            </a:r>
            <a:r>
              <a:rPr lang="en-IN" dirty="0"/>
              <a:t>, with historical error rates of </a:t>
            </a:r>
            <a:r>
              <a:rPr lang="en-IN" b="1" dirty="0"/>
              <a:t>4.71% for auto-decline and 4.83% for fast-track</a:t>
            </a:r>
            <a:r>
              <a:rPr lang="en-IN" dirty="0"/>
              <a:t>.</a:t>
            </a:r>
          </a:p>
          <a:p>
            <a:r>
              <a:rPr lang="en-IN" dirty="0"/>
              <a:t>Both were within the 5% limit.</a:t>
            </a:r>
          </a:p>
          <a:p>
            <a:r>
              <a:rPr lang="en-IN" dirty="0"/>
              <a:t>This experiment showed that </a:t>
            </a:r>
            <a:r>
              <a:rPr lang="en-IN" b="1" dirty="0"/>
              <a:t>we could achieve similar automation even when thresholds were selected using separate validation data</a:t>
            </a:r>
            <a:r>
              <a:rPr lang="en-IN" dirty="0"/>
              <a:t>.</a:t>
            </a:r>
          </a:p>
          <a:p>
            <a:r>
              <a:rPr lang="en-IN" dirty="0"/>
              <a:t>Next, I tested a more conservative approach to reduce the errors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the validation experiment, I wanted to see what happens if we use </a:t>
            </a:r>
            <a:r>
              <a:rPr lang="en-IN" b="1" dirty="0"/>
              <a:t>stricter error limits</a:t>
            </a:r>
            <a:r>
              <a:rPr lang="en-IN" dirty="0"/>
              <a:t>.</a:t>
            </a:r>
          </a:p>
          <a:p>
            <a:r>
              <a:rPr lang="en-IN" dirty="0"/>
              <a:t>So, I performed a conservative experiment by reducing the validation-stage error target from </a:t>
            </a:r>
            <a:r>
              <a:rPr lang="en-IN" b="1" dirty="0"/>
              <a:t>5% to 3%</a:t>
            </a:r>
            <a:r>
              <a:rPr lang="en-IN" dirty="0"/>
              <a:t>.</a:t>
            </a:r>
          </a:p>
          <a:p>
            <a:r>
              <a:rPr lang="en-IN" dirty="0"/>
              <a:t>As you can see, our original policy achieved </a:t>
            </a:r>
            <a:r>
              <a:rPr lang="en-IN" b="1" dirty="0"/>
              <a:t>43.96% automation</a:t>
            </a:r>
            <a:r>
              <a:rPr lang="en-IN" dirty="0"/>
              <a:t>, while the conservative policy achieved </a:t>
            </a:r>
            <a:r>
              <a:rPr lang="en-IN" b="1" dirty="0"/>
              <a:t>36.67%</a:t>
            </a:r>
            <a:r>
              <a:rPr lang="en-IN" dirty="0"/>
              <a:t>.</a:t>
            </a:r>
          </a:p>
          <a:p>
            <a:r>
              <a:rPr lang="en-IN" dirty="0"/>
              <a:t>In the conservative experiment, the observed historical error rates were </a:t>
            </a:r>
            <a:r>
              <a:rPr lang="en-IN" b="1" dirty="0"/>
              <a:t>3.17% for auto-decline and 4.00% for fast-track</a:t>
            </a:r>
            <a:r>
              <a:rPr lang="en-IN" dirty="0"/>
              <a:t>.</a:t>
            </a:r>
          </a:p>
          <a:p>
            <a:r>
              <a:rPr lang="en-IN" dirty="0"/>
              <a:t>So, we reduced automation, but also reduced the observed errors.</a:t>
            </a:r>
          </a:p>
          <a:p>
            <a:r>
              <a:rPr lang="en-IN" dirty="0"/>
              <a:t>This shows a </a:t>
            </a:r>
            <a:r>
              <a:rPr lang="en-IN" b="1" dirty="0"/>
              <a:t>trade-off between automation and decision safety</a:t>
            </a:r>
            <a:r>
              <a:rPr lang="en-IN" dirty="0"/>
              <a:t>.</a:t>
            </a:r>
          </a:p>
          <a:p>
            <a:r>
              <a:rPr lang="en-IN" dirty="0"/>
              <a:t>However, our main selected approach remains the original </a:t>
            </a:r>
            <a:r>
              <a:rPr lang="en-IN" b="1" dirty="0"/>
              <a:t>5% Gradient Boosting policy</a:t>
            </a:r>
            <a:r>
              <a:rPr lang="en-IN" dirty="0"/>
              <a:t>.</a:t>
            </a:r>
          </a:p>
          <a:p>
            <a:r>
              <a:rPr lang="en-IN" dirty="0"/>
              <a:t>Next, I performed K-Means clustering as an additional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After the conservative experiment, I performed </a:t>
            </a:r>
            <a:r>
              <a:rPr lang="en-IN" b="1" dirty="0"/>
              <a:t>K-Means clustering</a:t>
            </a:r>
            <a:r>
              <a:rPr lang="en-IN" dirty="0"/>
              <a:t> as an additional analysis.</a:t>
            </a:r>
          </a:p>
          <a:p>
            <a:r>
              <a:rPr lang="en-IN" dirty="0"/>
              <a:t>The main purpose was to group similar applicants and check whether our Gradient Boosting model performed differently across those groups.</a:t>
            </a:r>
          </a:p>
          <a:p>
            <a:r>
              <a:rPr lang="en-IN" dirty="0"/>
              <a:t>K-Means divided the dataset into </a:t>
            </a:r>
            <a:r>
              <a:rPr lang="en-IN" b="1" dirty="0"/>
              <a:t>two clusters</a:t>
            </a:r>
            <a:r>
              <a:rPr lang="en-IN" dirty="0"/>
              <a:t>.</a:t>
            </a:r>
          </a:p>
          <a:p>
            <a:r>
              <a:rPr lang="en-IN" b="1" dirty="0"/>
              <a:t>Cluster 0</a:t>
            </a:r>
            <a:r>
              <a:rPr lang="en-IN" dirty="0"/>
              <a:t> had 4,792 applicants, with a historical approval rate of </a:t>
            </a:r>
            <a:r>
              <a:rPr lang="en-IN" b="1" dirty="0"/>
              <a:t>60.73%</a:t>
            </a:r>
            <a:r>
              <a:rPr lang="en-IN" dirty="0"/>
              <a:t>.</a:t>
            </a:r>
          </a:p>
          <a:p>
            <a:r>
              <a:rPr lang="en-IN" b="1" dirty="0"/>
              <a:t>Cluster 1</a:t>
            </a:r>
            <a:r>
              <a:rPr lang="en-IN" dirty="0"/>
              <a:t> had 7,208 applicants, with a historical approval rate of </a:t>
            </a:r>
            <a:r>
              <a:rPr lang="en-IN" b="1" dirty="0"/>
              <a:t>47.77%</a:t>
            </a:r>
            <a:r>
              <a:rPr lang="en-IN" dirty="0"/>
              <a:t>.</a:t>
            </a:r>
          </a:p>
          <a:p>
            <a:r>
              <a:rPr lang="en-IN" dirty="0"/>
              <a:t>When I compared the model's prediction errors, they were almost the same: </a:t>
            </a:r>
            <a:r>
              <a:rPr lang="en-IN" b="1" dirty="0"/>
              <a:t>19.64% and 19.55%</a:t>
            </a:r>
            <a:r>
              <a:rPr lang="en-IN" dirty="0"/>
              <a:t>.</a:t>
            </a:r>
          </a:p>
          <a:p>
            <a:r>
              <a:rPr lang="en-IN" dirty="0"/>
              <a:t>So, I concluded that </a:t>
            </a:r>
            <a:r>
              <a:rPr lang="en-IN" b="1" dirty="0"/>
              <a:t>K-Means helped us understand applicant groups, but it did not improve our prediction model</a:t>
            </a:r>
            <a:r>
              <a:rPr lang="en-IN" dirty="0"/>
              <a:t>.</a:t>
            </a:r>
          </a:p>
          <a:p>
            <a:r>
              <a:rPr lang="en-IN" dirty="0"/>
              <a:t>Now, let me conclude the project with the main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To conclude, our main problem was the </a:t>
            </a:r>
            <a:r>
              <a:rPr lang="en-IN" b="1" dirty="0"/>
              <a:t>high manual workload in loan application reviews</a:t>
            </a:r>
            <a:r>
              <a:rPr lang="en-IN" dirty="0"/>
              <a:t>.</a:t>
            </a:r>
          </a:p>
          <a:p>
            <a:r>
              <a:rPr lang="en-IN" dirty="0"/>
              <a:t>To solve this, I developed a machine learning-based credit pre-screening system using </a:t>
            </a:r>
            <a:r>
              <a:rPr lang="en-IN" b="1" dirty="0"/>
              <a:t>Gradient Boosting</a:t>
            </a:r>
            <a:r>
              <a:rPr lang="en-IN" dirty="0"/>
              <a:t>.</a:t>
            </a:r>
          </a:p>
          <a:p>
            <a:r>
              <a:rPr lang="en-IN" dirty="0"/>
              <a:t>Our main approach achieved </a:t>
            </a:r>
            <a:r>
              <a:rPr lang="en-IN" b="1" dirty="0"/>
              <a:t>43.96% automation</a:t>
            </a:r>
            <a:r>
              <a:rPr lang="en-IN" dirty="0"/>
              <a:t>, while keeping both observed historical error rates within the </a:t>
            </a:r>
            <a:r>
              <a:rPr lang="en-IN" b="1" dirty="0"/>
              <a:t>5% limit</a:t>
            </a:r>
            <a:r>
              <a:rPr lang="en-IN" dirty="0"/>
              <a:t>.</a:t>
            </a:r>
          </a:p>
          <a:p>
            <a:r>
              <a:rPr lang="en-IN" dirty="0"/>
              <a:t>This could potentially save around </a:t>
            </a:r>
            <a:r>
              <a:rPr lang="en-IN" b="1" dirty="0"/>
              <a:t>549 analyst hours every month</a:t>
            </a:r>
            <a:r>
              <a:rPr lang="en-IN" dirty="0"/>
              <a:t>.</a:t>
            </a:r>
          </a:p>
          <a:p>
            <a:r>
              <a:rPr lang="en-IN" dirty="0"/>
              <a:t>However, before real-world implementation, the system needs further independent testing, fairness checks and monitoring.</a:t>
            </a:r>
          </a:p>
          <a:p>
            <a:r>
              <a:rPr lang="en-IN" dirty="0"/>
              <a:t>Overall, this project showed how machine learning can </a:t>
            </a:r>
            <a:r>
              <a:rPr lang="en-IN" b="1" dirty="0"/>
              <a:t>reduce manual workload while keeping human judgement for uncertain cases</a:t>
            </a:r>
            <a:r>
              <a:rPr lang="en-IN" dirty="0"/>
              <a:t>.</a:t>
            </a:r>
          </a:p>
          <a:p>
            <a:r>
              <a:rPr lang="en-IN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listening. I am happy to discuss the dataset, FOIR, our baseline and Gradient Boosting comparison, the difference between decline and approval probability, the separate five-percent lane error constraints, how the threshold validation worked, and why our final recommendation is a controlled shadow pilot rather than immediate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5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058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 /  MINI USE CASE 02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31520" y="1572768"/>
            <a:ext cx="5989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Pre-Screening</a:t>
            </a:r>
            <a:endParaRPr lang="en-US" sz="3700" dirty="0"/>
          </a:p>
          <a:p>
            <a:pPr marL="0" indent="0">
              <a:buNone/>
            </a:pPr>
            <a:r>
              <a:rPr lang="en-US" sz="37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731520" y="35570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Intake Optimisation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47457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5111496"/>
            <a:ext cx="5669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MADHU KUNCHALA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8339328" y="1773936"/>
            <a:ext cx="2852928" cy="2852928"/>
          </a:xfrm>
          <a:prstGeom prst="ellipse">
            <a:avLst/>
          </a:prstGeom>
          <a:solidFill>
            <a:srgbClr val="1B2035">
              <a:alpha val="65000"/>
            </a:srgbClr>
          </a:solidFill>
          <a:ln w="13970">
            <a:solidFill>
              <a:srgbClr val="46506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70848" y="2514600"/>
            <a:ext cx="1389888" cy="1389888"/>
          </a:xfrm>
          <a:prstGeom prst="ellipse">
            <a:avLst/>
          </a:prstGeom>
          <a:solidFill>
            <a:srgbClr val="1E3546"/>
          </a:solidFill>
          <a:ln w="20320">
            <a:solidFill>
              <a:srgbClr val="19C9E7"/>
            </a:solidFill>
            <a:prstDash val="solid"/>
          </a:ln>
        </p:spPr>
      </p:sp>
      <p:pic>
        <p:nvPicPr>
          <p:cNvPr id="10" name="Image 0" descr="/mnt/data/credit_targeted_final/brain_A88A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2834640"/>
            <a:ext cx="768096" cy="768096"/>
          </a:xfrm>
          <a:prstGeom prst="rect">
            <a:avLst/>
          </a:prstGeom>
        </p:spPr>
      </p:pic>
      <p:pic>
        <p:nvPicPr>
          <p:cNvPr id="11" name="Image 1" descr="/mnt/data/credit_targeted_final/bank_19C9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1856232"/>
            <a:ext cx="640080" cy="640080"/>
          </a:xfrm>
          <a:prstGeom prst="rect">
            <a:avLst/>
          </a:prstGeom>
        </p:spPr>
      </p:pic>
      <p:pic>
        <p:nvPicPr>
          <p:cNvPr id="12" name="Image 2" descr="/mnt/data/credit_targeted_final/file_FFC5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1856232"/>
            <a:ext cx="640080" cy="640080"/>
          </a:xfrm>
          <a:prstGeom prst="rect">
            <a:avLst/>
          </a:prstGeom>
        </p:spPr>
      </p:pic>
      <p:pic>
        <p:nvPicPr>
          <p:cNvPr id="13" name="Image 3" descr="/mnt/data/credit_targeted_final/shield_2ED3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4151376"/>
            <a:ext cx="640080" cy="640080"/>
          </a:xfrm>
          <a:prstGeom prst="rect">
            <a:avLst/>
          </a:prstGeom>
        </p:spPr>
      </p:pic>
      <p:pic>
        <p:nvPicPr>
          <p:cNvPr id="14" name="Image 4" descr="/mnt/data/credit_targeted_final/branch_EF65B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4151376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5F7FC"/>
                </a:solidFill>
                <a:latin typeface="Aptos"/>
              </a:rPr>
              <a:t>Why does the bank need pre-screening?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76888" y="6483096"/>
            <a:ext cx="219456" cy="1737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EC8D7"/>
                </a:solidFill>
                <a:latin typeface="Aptos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61872"/>
            <a:ext cx="6693408" cy="4343400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" y="1591056"/>
            <a:ext cx="658368" cy="56692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9C9E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784" y="1591056"/>
            <a:ext cx="5202936" cy="35661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5F7FC"/>
                </a:solidFill>
                <a:latin typeface="Aptos"/>
              </a:rPr>
              <a:t>3,000 applications /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0784" y="2020824"/>
            <a:ext cx="5212080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Every application enters a manual queue.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52728" y="2368296"/>
            <a:ext cx="0" cy="393192"/>
          </a:xfrm>
          <a:prstGeom prst="line">
            <a:avLst/>
          </a:prstGeom>
          <a:ln w="25400">
            <a:solidFill>
              <a:srgbClr val="263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41832" y="2843784"/>
            <a:ext cx="658368" cy="56692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C532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0784" y="2843784"/>
            <a:ext cx="5202936" cy="35661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5F7FC"/>
                </a:solidFill>
                <a:latin typeface="Aptos"/>
              </a:rPr>
              <a:t>25 minutes per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3273552"/>
            <a:ext cx="5212080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Analysts spend time reviewing each case.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52728" y="3621024"/>
            <a:ext cx="0" cy="393192"/>
          </a:xfrm>
          <a:prstGeom prst="line">
            <a:avLst/>
          </a:prstGeom>
          <a:ln w="25400">
            <a:solidFill>
              <a:srgbClr val="2634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41832" y="4096512"/>
            <a:ext cx="658368" cy="56692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A88AF4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4096512"/>
            <a:ext cx="5202936" cy="35661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5F7FC"/>
                </a:solidFill>
                <a:latin typeface="Aptos"/>
              </a:rPr>
              <a:t>1,250 review-hours /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784" y="4526280"/>
            <a:ext cx="5212080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High workload delays cases needing judgement.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1517904"/>
            <a:ext cx="3474720" cy="960120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0416" y="1673352"/>
            <a:ext cx="3273552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C9E7"/>
                </a:solidFill>
                <a:latin typeface="Aptos"/>
              </a:rPr>
              <a:t>MANUAL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743200"/>
            <a:ext cx="539496" cy="640080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759952" y="2743200"/>
            <a:ext cx="539496" cy="640080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436608" y="2743200"/>
            <a:ext cx="539496" cy="640080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13264" y="2743200"/>
            <a:ext cx="539496" cy="640080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528048" y="3520440"/>
            <a:ext cx="0" cy="438912"/>
          </a:xfrm>
          <a:prstGeom prst="line">
            <a:avLst/>
          </a:prstGeom>
          <a:ln w="38100">
            <a:solidFill>
              <a:srgbClr val="FFC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18704" y="4050791"/>
            <a:ext cx="3172968" cy="978408"/>
          </a:xfrm>
          <a:prstGeom prst="roundRect">
            <a:avLst/>
          </a:prstGeom>
          <a:solidFill>
            <a:srgbClr val="164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9872" y="4215384"/>
            <a:ext cx="2816352" cy="41148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ED3A5"/>
                </a:solidFill>
                <a:latin typeface="Aptos"/>
              </a:rPr>
              <a:t>SMART PRE-SCREEN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6035040"/>
            <a:ext cx="11018520" cy="512064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03504" y="6035040"/>
            <a:ext cx="82296" cy="512064"/>
          </a:xfrm>
          <a:prstGeom prst="rect">
            <a:avLst/>
          </a:prstGeom>
          <a:solidFill>
            <a:srgbClr val="19C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6071616"/>
            <a:ext cx="1056132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C"/>
                </a:solidFill>
                <a:latin typeface="Aptos"/>
              </a:rPr>
              <a:t>Business question: which clear cases can avoid full review, within the 5% lane limits?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CBIM Problem Canvas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3611880" cy="1719072"/>
          </a:xfrm>
          <a:prstGeom prst="roundRect">
            <a:avLst>
              <a:gd name="adj" fmla="val 7447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17320"/>
            <a:ext cx="68580" cy="1719072"/>
          </a:xfrm>
          <a:prstGeom prst="roundRect">
            <a:avLst>
              <a:gd name="adj" fmla="val 2666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pic>
        <p:nvPicPr>
          <p:cNvPr id="7" name="Image 0" descr="/mnt/data/credit_targeted_final/clock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645920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636776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14400" y="2203704"/>
            <a:ext cx="3090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 cases/month · 25 minutes each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498848" y="1417320"/>
            <a:ext cx="3611880" cy="1719072"/>
          </a:xfrm>
          <a:prstGeom prst="roundRect">
            <a:avLst>
              <a:gd name="adj" fmla="val 7447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98848" y="1417320"/>
            <a:ext cx="68580" cy="1719072"/>
          </a:xfrm>
          <a:prstGeom prst="roundRect">
            <a:avLst>
              <a:gd name="adj" fmla="val 26667"/>
            </a:avLst>
          </a:prstGeom>
          <a:solidFill>
            <a:srgbClr val="EF65B4"/>
          </a:solidFill>
          <a:ln w="12700">
            <a:solidFill>
              <a:srgbClr val="EF65B4">
                <a:alpha val="0"/>
              </a:srgbClr>
            </a:solidFill>
            <a:prstDash val="solid"/>
          </a:ln>
        </p:spPr>
      </p:sp>
      <p:pic>
        <p:nvPicPr>
          <p:cNvPr id="12" name="Image 1" descr="/mnt/data/credit_targeted_final/shield_EF65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645920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76088" y="1636776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F65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Complication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773168" y="2203704"/>
            <a:ext cx="3090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Heavy review load; incorrect automation creates risk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357616" y="1417320"/>
            <a:ext cx="3611880" cy="1719072"/>
          </a:xfrm>
          <a:prstGeom prst="roundRect">
            <a:avLst>
              <a:gd name="adj" fmla="val 7447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7616" y="1417320"/>
            <a:ext cx="68580" cy="1719072"/>
          </a:xfrm>
          <a:prstGeom prst="roundRect">
            <a:avLst>
              <a:gd name="adj" fmla="val 26667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pic>
        <p:nvPicPr>
          <p:cNvPr id="17" name="Image 2" descr="/mnt/data/credit_targeted_final/question_A88A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1645920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34856" y="1636776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A88A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631936" y="2203704"/>
            <a:ext cx="3090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cases can avoid full manual review?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40080" y="3337560"/>
            <a:ext cx="3611880" cy="1719072"/>
          </a:xfrm>
          <a:prstGeom prst="roundRect">
            <a:avLst>
              <a:gd name="adj" fmla="val 7447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" y="3337560"/>
            <a:ext cx="68580" cy="1719072"/>
          </a:xfrm>
          <a:prstGeom prst="roundRect">
            <a:avLst>
              <a:gd name="adj" fmla="val 26667"/>
            </a:avLst>
          </a:prstGeom>
          <a:solidFill>
            <a:srgbClr val="FFC532"/>
          </a:solidFill>
          <a:ln w="12700">
            <a:solidFill>
              <a:srgbClr val="FFC532">
                <a:alpha val="0"/>
              </a:srgbClr>
            </a:solidFill>
            <a:prstDash val="solid"/>
          </a:ln>
        </p:spPr>
      </p:sp>
      <p:pic>
        <p:nvPicPr>
          <p:cNvPr id="22" name="Image 3" descr="/mnt/data/credit_targeted_final/file_FFC5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3566160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557016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C5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SSOT</a:t>
            </a:r>
            <a:endParaRPr lang="en-US" sz="1900" dirty="0"/>
          </a:p>
        </p:txBody>
      </p:sp>
      <p:sp>
        <p:nvSpPr>
          <p:cNvPr id="24" name="Text 17"/>
          <p:cNvSpPr/>
          <p:nvPr/>
        </p:nvSpPr>
        <p:spPr>
          <a:xfrm>
            <a:off x="914400" y="4123944"/>
            <a:ext cx="3090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12,000 historical applications and decisions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4498848" y="3337560"/>
            <a:ext cx="3611880" cy="1719072"/>
          </a:xfrm>
          <a:prstGeom prst="roundRect">
            <a:avLst>
              <a:gd name="adj" fmla="val 7447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98848" y="3337560"/>
            <a:ext cx="68580" cy="1719072"/>
          </a:xfrm>
          <a:prstGeom prst="roundRect">
            <a:avLst>
              <a:gd name="adj" fmla="val 2666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pic>
        <p:nvPicPr>
          <p:cNvPr id="27" name="Image 4" descr="/mnt/data/credit_targeted_final/target_2ED3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566160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76088" y="3557016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Definition</a:t>
            </a:r>
            <a:endParaRPr lang="en-US" sz="1900" dirty="0"/>
          </a:p>
        </p:txBody>
      </p:sp>
      <p:sp>
        <p:nvSpPr>
          <p:cNvPr id="29" name="Text 21"/>
          <p:cNvSpPr/>
          <p:nvPr/>
        </p:nvSpPr>
        <p:spPr>
          <a:xfrm>
            <a:off x="4773168" y="4123944"/>
            <a:ext cx="3090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automated lane: ≤5% historical error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8357616" y="3337560"/>
            <a:ext cx="3611880" cy="1719072"/>
          </a:xfrm>
          <a:prstGeom prst="roundRect">
            <a:avLst>
              <a:gd name="adj" fmla="val 7447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57616" y="3337560"/>
            <a:ext cx="68580" cy="1719072"/>
          </a:xfrm>
          <a:prstGeom prst="roundRect">
            <a:avLst>
              <a:gd name="adj" fmla="val 2666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pic>
        <p:nvPicPr>
          <p:cNvPr id="32" name="Image 5" descr="/mnt/data/credit_targeted_final/people_19C9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7928" y="3566160"/>
            <a:ext cx="420624" cy="42062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134856" y="3557016"/>
            <a:ext cx="2606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</a:t>
            </a:r>
            <a:endParaRPr lang="en-US" sz="1900" dirty="0"/>
          </a:p>
        </p:txBody>
      </p:sp>
      <p:sp>
        <p:nvSpPr>
          <p:cNvPr id="34" name="Text 25"/>
          <p:cNvSpPr/>
          <p:nvPr/>
        </p:nvSpPr>
        <p:spPr>
          <a:xfrm>
            <a:off x="8631936" y="4123944"/>
            <a:ext cx="30906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Operations Manager and credit risk team</a:t>
            </a:r>
            <a:endParaRPr lang="en-US" sz="1600" dirty="0"/>
          </a:p>
        </p:txBody>
      </p:sp>
      <p:sp>
        <p:nvSpPr>
          <p:cNvPr id="35" name="Shape 26"/>
          <p:cNvSpPr/>
          <p:nvPr/>
        </p:nvSpPr>
        <p:spPr>
          <a:xfrm>
            <a:off x="594360" y="5568696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594360" y="5568696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850392" y="5632704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automate clear cases; retain human judgement for uncertain applications.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dataset: 12,000 historical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13232" y="1453896"/>
            <a:ext cx="4937760" cy="2157984"/>
          </a:xfrm>
          <a:prstGeom prst="roundRect">
            <a:avLst>
              <a:gd name="adj" fmla="val 5932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453896"/>
            <a:ext cx="68580" cy="2157984"/>
          </a:xfrm>
          <a:prstGeom prst="roundRect">
            <a:avLst>
              <a:gd name="adj" fmla="val 2666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pic>
        <p:nvPicPr>
          <p:cNvPr id="7" name="Image 0" descr="/mnt/data/credit_targeted_final/file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682496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90472" y="167335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profile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87552" y="2240280"/>
            <a:ext cx="44165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12,000 historical loan applications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original columns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63640" y="1453896"/>
            <a:ext cx="5120640" cy="2157984"/>
          </a:xfrm>
          <a:prstGeom prst="roundRect">
            <a:avLst>
              <a:gd name="adj" fmla="val 5932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63640" y="1453896"/>
            <a:ext cx="68580" cy="2157984"/>
          </a:xfrm>
          <a:prstGeom prst="roundRect">
            <a:avLst>
              <a:gd name="adj" fmla="val 26667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pic>
        <p:nvPicPr>
          <p:cNvPr id="12" name="Image 1" descr="/mnt/data/credit_targeted_final/target_A88A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682496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1673352"/>
            <a:ext cx="4114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A88A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prediction target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537960" y="2240280"/>
            <a:ext cx="45994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Approved / Declined decisions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observed repayments or defaults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59536" y="39044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decisions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877824" y="4471416"/>
            <a:ext cx="10415016" cy="548640"/>
          </a:xfrm>
          <a:prstGeom prst="roundRect">
            <a:avLst>
              <a:gd name="adj" fmla="val 21667"/>
            </a:avLst>
          </a:prstGeom>
          <a:solidFill>
            <a:srgbClr val="FB767A"/>
          </a:solidFill>
          <a:ln w="12700">
            <a:solidFill>
              <a:srgbClr val="FB767A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77824" y="4471416"/>
            <a:ext cx="5513709" cy="548640"/>
          </a:xfrm>
          <a:prstGeom prst="roundRect">
            <a:avLst>
              <a:gd name="adj" fmla="val 2166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77824" y="5184648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52.94%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6272784" y="5184648"/>
            <a:ext cx="50200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B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Declined 47.06%</a:t>
            </a:r>
            <a:endParaRPr lang="en-US" sz="2100" dirty="0"/>
          </a:p>
        </p:txBody>
      </p:sp>
      <p:sp>
        <p:nvSpPr>
          <p:cNvPr id="20" name="Shape 15"/>
          <p:cNvSpPr/>
          <p:nvPr/>
        </p:nvSpPr>
        <p:spPr>
          <a:xfrm>
            <a:off x="594360" y="5934456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4360" y="5934456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50392" y="5998464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model reproduces historical bank decisions—not actual credit defaults.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data: preserve useful 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13232" y="1536192"/>
            <a:ext cx="10789920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67335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682496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72184" y="16093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441 missing monthly incomes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72184" y="1947672"/>
            <a:ext cx="9875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 with training-learned employment medians</a:t>
            </a:r>
            <a:endParaRPr lang="en-US" sz="1400" dirty="0"/>
          </a:p>
        </p:txBody>
      </p:sp>
      <p:pic>
        <p:nvPicPr>
          <p:cNvPr id="10" name="Image 0" descr="/mnt/data/credit_targeted_final/calc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36" y="1719072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13232" y="2578608"/>
            <a:ext cx="10789920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" y="271576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8680" y="2724912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472184" y="26517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1,039 missing credit scores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472184" y="2990088"/>
            <a:ext cx="9875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applicants and add a new-to-credit indicator</a:t>
            </a:r>
            <a:endParaRPr lang="en-US" sz="1400" dirty="0"/>
          </a:p>
        </p:txBody>
      </p:sp>
      <p:pic>
        <p:nvPicPr>
          <p:cNvPr id="16" name="Image 1" descr="/mnt/data/credit_targeted_final/file_A88A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7936" y="2761488"/>
            <a:ext cx="310896" cy="310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13232" y="3621024"/>
            <a:ext cx="10789920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1248" y="375818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68680" y="3767328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472184" y="369417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unusual values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472184" y="4032504"/>
            <a:ext cx="9875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plausible cases rather than deleting blindly</a:t>
            </a:r>
            <a:endParaRPr lang="en-US" sz="1400" dirty="0"/>
          </a:p>
        </p:txBody>
      </p:sp>
      <p:pic>
        <p:nvPicPr>
          <p:cNvPr id="22" name="Image 2" descr="/mnt/data/credit_targeted_final/check_2ED3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7936" y="3803904"/>
            <a:ext cx="310896" cy="31089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94360" y="5074920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5074920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50392" y="5138928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prevention: train-only statistics are reused for validation and testing.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EDA: what patterns did we find?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58368" y="1645920"/>
            <a:ext cx="3575304" cy="3337560"/>
          </a:xfrm>
          <a:prstGeom prst="roundRect">
            <a:avLst>
              <a:gd name="adj" fmla="val 3836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1645920"/>
            <a:ext cx="68580" cy="3337560"/>
          </a:xfrm>
          <a:prstGeom prst="roundRect">
            <a:avLst>
              <a:gd name="adj" fmla="val 2666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pic>
        <p:nvPicPr>
          <p:cNvPr id="7" name="Image 0" descr="/mnt/data/credit_targeted_final/chart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35608" y="1865376"/>
            <a:ext cx="2569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score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32688" y="2432304"/>
            <a:ext cx="305409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600: 2.03% approved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800+: 85.19% approved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315968" y="1645920"/>
            <a:ext cx="3575304" cy="3337560"/>
          </a:xfrm>
          <a:prstGeom prst="roundRect">
            <a:avLst>
              <a:gd name="adj" fmla="val 3836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15968" y="1645920"/>
            <a:ext cx="68580" cy="3337560"/>
          </a:xfrm>
          <a:prstGeom prst="roundRect">
            <a:avLst>
              <a:gd name="adj" fmla="val 2666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pic>
        <p:nvPicPr>
          <p:cNvPr id="12" name="Image 1" descr="/mnt/data/credit_targeted_final/calc_2ED3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874520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93208" y="1865376"/>
            <a:ext cx="2569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FOIR affordability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590288" y="2432304"/>
            <a:ext cx="305409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≤30%: 65.69% approved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Above 55%: 14.09%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973568" y="1645920"/>
            <a:ext cx="3575304" cy="3337560"/>
          </a:xfrm>
          <a:prstGeom prst="roundRect">
            <a:avLst>
              <a:gd name="adj" fmla="val 3836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973568" y="1645920"/>
            <a:ext cx="68580" cy="3337560"/>
          </a:xfrm>
          <a:prstGeom prst="roundRect">
            <a:avLst>
              <a:gd name="adj" fmla="val 26667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pic>
        <p:nvPicPr>
          <p:cNvPr id="17" name="Image 2" descr="/mnt/data/credit_targeted_final/people_A88A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874520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50808" y="1865376"/>
            <a:ext cx="25694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A88A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Employment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247888" y="2432304"/>
            <a:ext cx="3054096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Salaried: 58.37% approved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Gig/Contract: 34.94%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94360" y="5541264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4360" y="5541264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50392" y="5605272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associations reveal trends, not causes of lending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engineering: three useful signals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581912"/>
            <a:ext cx="10744200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9536" y="171907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6968" y="1728216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90472" y="1655064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FOIR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90472" y="1993392"/>
            <a:ext cx="9829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(Existing EMI + Proposed EMI) ÷ Monthly Income</a:t>
            </a:r>
            <a:endParaRPr lang="en-US" sz="1400" dirty="0"/>
          </a:p>
        </p:txBody>
      </p:sp>
      <p:pic>
        <p:nvPicPr>
          <p:cNvPr id="10" name="Image 0" descr="/mnt/data/credit_targeted_final/calc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504" y="1764792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1520" y="2679192"/>
            <a:ext cx="10744200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59536" y="281635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FC532"/>
          </a:solidFill>
          <a:ln w="12700">
            <a:solidFill>
              <a:srgbClr val="FFC532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86968" y="2825496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490472" y="2752344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Loan-to-Income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490472" y="3090672"/>
            <a:ext cx="9829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Amount ÷ (Monthly Income × 12)</a:t>
            </a:r>
            <a:endParaRPr lang="en-US" sz="1400" dirty="0"/>
          </a:p>
        </p:txBody>
      </p:sp>
      <p:pic>
        <p:nvPicPr>
          <p:cNvPr id="16" name="Image 1" descr="/mnt/data/credit_targeted_final/coins_FFC5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504" y="2862072"/>
            <a:ext cx="310896" cy="310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1520" y="3776472"/>
            <a:ext cx="10744200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59536" y="391363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86968" y="3922776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490472" y="3849624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New-to-Credit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490472" y="4187952"/>
            <a:ext cx="9829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when the credit score is missing; otherwise 0</a:t>
            </a:r>
            <a:endParaRPr lang="en-US" sz="1400" dirty="0"/>
          </a:p>
        </p:txBody>
      </p:sp>
      <p:pic>
        <p:nvPicPr>
          <p:cNvPr id="22" name="Image 2" descr="/mnt/data/credit_targeted_final/file_A88A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0504" y="3959352"/>
            <a:ext cx="310896" cy="31089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94360" y="5193792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5193792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50392" y="5257800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variables capture EMI burden, loan size and limited credit history.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5F7FC"/>
                </a:solidFill>
                <a:latin typeface="Aptos"/>
              </a:rPr>
              <a:t>First model: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76888" y="6483096"/>
            <a:ext cx="219456" cy="1737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EC8D7"/>
                </a:solidFill>
                <a:latin typeface="Aptos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289304"/>
            <a:ext cx="4005072" cy="4325112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544" y="1536192"/>
            <a:ext cx="457200" cy="457200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3544" y="1536192"/>
            <a:ext cx="457200" cy="45720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9C9E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6" y="1499616"/>
            <a:ext cx="2889504" cy="54864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9C9E7"/>
                </a:solidFill>
                <a:latin typeface="Aptos"/>
              </a:rPr>
              <a:t>Baseline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58568"/>
            <a:ext cx="3364992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7FC"/>
                </a:solidFill>
                <a:latin typeface="Aptos"/>
              </a:rPr>
              <a:t>80% train · 20%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798064"/>
            <a:ext cx="239572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2798064"/>
            <a:ext cx="1271016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9C9E7"/>
                </a:solidFill>
                <a:latin typeface="Aptos"/>
              </a:rPr>
              <a:t>79.04%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3511296"/>
            <a:ext cx="239572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Decline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3511296"/>
            <a:ext cx="1271016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ED3A5"/>
                </a:solidFill>
                <a:latin typeface="Aptos"/>
              </a:rPr>
              <a:t>79.09%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224528"/>
            <a:ext cx="239572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Decline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4224528"/>
            <a:ext cx="1271016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88AF4"/>
                </a:solidFill>
                <a:latin typeface="Aptos"/>
              </a:rPr>
              <a:t>75.38%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280160"/>
            <a:ext cx="6428232" cy="4361688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12664" y="1435607"/>
            <a:ext cx="5897880" cy="3291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7FC"/>
                </a:solidFill>
                <a:latin typeface="Aptos"/>
              </a:rPr>
              <a:t>CONFUSION MATRIX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56231"/>
            <a:ext cx="3675887" cy="429768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70064" y="1874519"/>
            <a:ext cx="3557016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C9E7"/>
                </a:solidFill>
                <a:latin typeface="Aptos"/>
              </a:rPr>
              <a:t>PREDICTED DECISION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76088" y="2359152"/>
            <a:ext cx="1508760" cy="484632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395728"/>
            <a:ext cx="1453896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C532"/>
                </a:solidFill>
                <a:latin typeface="Aptos"/>
              </a:rPr>
              <a:t>ACTUAL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4344" y="2359152"/>
            <a:ext cx="1810512" cy="484632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24344" y="2395728"/>
            <a:ext cx="1810512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C"/>
                </a:solidFill>
                <a:latin typeface="Aptos"/>
              </a:rPr>
              <a:t>Approved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359152"/>
            <a:ext cx="1810512" cy="484632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2395728"/>
            <a:ext cx="1810512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C"/>
                </a:solidFill>
                <a:latin typeface="Aptos"/>
              </a:rPr>
              <a:t>Declined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76088" y="2916936"/>
            <a:ext cx="1508760" cy="795528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94376" y="3035808"/>
            <a:ext cx="1463040" cy="54864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C"/>
                </a:solidFill>
                <a:latin typeface="Aptos"/>
              </a:rPr>
              <a:t>Approved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4344" y="2916936"/>
            <a:ext cx="1810512" cy="795528"/>
          </a:xfrm>
          <a:prstGeom prst="roundRect">
            <a:avLst/>
          </a:prstGeom>
          <a:solidFill>
            <a:srgbClr val="16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24344" y="3008376"/>
            <a:ext cx="1810512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D3A5"/>
                </a:solidFill>
                <a:latin typeface="Aptos"/>
              </a:rPr>
              <a:t>1,046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916936"/>
            <a:ext cx="1810512" cy="795528"/>
          </a:xfrm>
          <a:prstGeom prst="roundRect">
            <a:avLst/>
          </a:prstGeom>
          <a:solidFill>
            <a:srgbClr val="5A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35440" y="3008376"/>
            <a:ext cx="1810512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B767A"/>
                </a:solidFill>
                <a:latin typeface="Aptos"/>
              </a:rPr>
              <a:t>225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76088" y="3831335"/>
            <a:ext cx="1508760" cy="795528"/>
          </a:xfrm>
          <a:prstGeom prst="roundRect">
            <a:avLst/>
          </a:prstGeom>
          <a:solidFill>
            <a:srgbClr val="26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94376" y="3950207"/>
            <a:ext cx="1463040" cy="54864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C"/>
                </a:solidFill>
                <a:latin typeface="Aptos"/>
              </a:rPr>
              <a:t>Declined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24344" y="3831335"/>
            <a:ext cx="1810512" cy="795528"/>
          </a:xfrm>
          <a:prstGeom prst="roundRect">
            <a:avLst/>
          </a:prstGeom>
          <a:solidFill>
            <a:srgbClr val="5A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24344" y="3922775"/>
            <a:ext cx="1810512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B767A"/>
                </a:solidFill>
                <a:latin typeface="Aptos"/>
              </a:rPr>
              <a:t>278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3831335"/>
            <a:ext cx="1810512" cy="795528"/>
          </a:xfrm>
          <a:prstGeom prst="roundRect">
            <a:avLst/>
          </a:prstGeom>
          <a:solidFill>
            <a:srgbClr val="16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35440" y="3922775"/>
            <a:ext cx="1810512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ED3A5"/>
                </a:solidFill>
                <a:latin typeface="Aptos"/>
              </a:rPr>
              <a:t>851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8" y="4956048"/>
            <a:ext cx="5751576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EC8D7"/>
                </a:solidFill>
                <a:latin typeface="Aptos"/>
              </a:rPr>
              <a:t>Diagonal = correct · Off-diagonal = incorrect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6035040"/>
            <a:ext cx="11018520" cy="512064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3504" y="6035040"/>
            <a:ext cx="82296" cy="512064"/>
          </a:xfrm>
          <a:prstGeom prst="rect">
            <a:avLst/>
          </a:prstGeom>
          <a:solidFill>
            <a:srgbClr val="FB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" y="6071616"/>
            <a:ext cx="1056132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C"/>
                </a:solidFill>
                <a:latin typeface="Aptos"/>
              </a:rPr>
              <a:t>At the 0.50 cutoff, 225 historically Approved cases were predicted Declined.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automation rule: decline score ≥90%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50976" y="1545336"/>
            <a:ext cx="3017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application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931920" y="1508760"/>
            <a:ext cx="557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07992" y="1545336"/>
            <a:ext cx="3255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Decline probability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54112" y="1508760"/>
            <a:ext cx="55778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421624" y="1545336"/>
            <a:ext cx="26700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87552" y="2313432"/>
            <a:ext cx="1016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decline-probability scale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1005840" y="2798064"/>
            <a:ext cx="10168128" cy="411480"/>
          </a:xfrm>
          <a:prstGeom prst="roundRect">
            <a:avLst>
              <a:gd name="adj" fmla="val 22222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57155" y="2798064"/>
            <a:ext cx="1016813" cy="411480"/>
          </a:xfrm>
          <a:prstGeom prst="roundRect">
            <a:avLst>
              <a:gd name="adj" fmla="val 22222"/>
            </a:avLst>
          </a:prstGeom>
          <a:solidFill>
            <a:srgbClr val="FB767A"/>
          </a:solidFill>
          <a:ln w="12700">
            <a:solidFill>
              <a:srgbClr val="FB767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3264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381744" y="32644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C5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10351008" y="32644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69264" y="3803904"/>
            <a:ext cx="4855464" cy="1234440"/>
          </a:xfrm>
          <a:prstGeom prst="roundRect">
            <a:avLst>
              <a:gd name="adj" fmla="val 10370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9264" y="3803904"/>
            <a:ext cx="68580" cy="1234440"/>
          </a:xfrm>
          <a:prstGeom prst="roundRect">
            <a:avLst>
              <a:gd name="adj" fmla="val 2666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pic>
        <p:nvPicPr>
          <p:cNvPr id="18" name="Image 0" descr="/mnt/data/credit_targeted_final/people_2ED3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4032504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746504" y="4023360"/>
            <a:ext cx="3849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90%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1243584" y="4590288"/>
            <a:ext cx="43342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227064" y="3803904"/>
            <a:ext cx="4855464" cy="1234440"/>
          </a:xfrm>
          <a:prstGeom prst="roundRect">
            <a:avLst>
              <a:gd name="adj" fmla="val 10370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227064" y="3803904"/>
            <a:ext cx="68580" cy="1234440"/>
          </a:xfrm>
          <a:prstGeom prst="roundRect">
            <a:avLst>
              <a:gd name="adj" fmla="val 26667"/>
            </a:avLst>
          </a:prstGeom>
          <a:solidFill>
            <a:srgbClr val="FB767A"/>
          </a:solidFill>
          <a:ln w="12700">
            <a:solidFill>
              <a:srgbClr val="FB767A">
                <a:alpha val="0"/>
              </a:srgbClr>
            </a:solidFill>
            <a:prstDash val="solid"/>
          </a:ln>
        </p:spPr>
      </p:sp>
      <p:pic>
        <p:nvPicPr>
          <p:cNvPr id="23" name="Image 1" descr="/mnt/data/credit_targeted_final/shield_FB76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032504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04304" y="4023360"/>
            <a:ext cx="38496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B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90%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6501384" y="4590288"/>
            <a:ext cx="43342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Auto-decline candidate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60120" y="5367528"/>
            <a:ext cx="1038758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363 auto-declines  •  15.12% automated  •  4.68% historical disagreement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594360" y="5925312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94360" y="5925312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50392" y="5989320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 is a model decline-score cutoff, not the bank’s 5% error limit.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Fairness: routing gaps need further checks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5166360" cy="3438144"/>
          </a:xfrm>
          <a:prstGeom prst="roundRect">
            <a:avLst>
              <a:gd name="adj" fmla="val 3723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45920"/>
            <a:ext cx="68580" cy="3438144"/>
          </a:xfrm>
          <a:prstGeom prst="roundRect">
            <a:avLst>
              <a:gd name="adj" fmla="val 26667"/>
            </a:avLst>
          </a:prstGeom>
          <a:solidFill>
            <a:srgbClr val="EF65B4"/>
          </a:solidFill>
          <a:ln w="12700">
            <a:solidFill>
              <a:srgbClr val="EF65B4">
                <a:alpha val="0"/>
              </a:srgbClr>
            </a:solidFill>
            <a:prstDash val="solid"/>
          </a:ln>
        </p:spPr>
      </p:sp>
      <p:pic>
        <p:nvPicPr>
          <p:cNvPr id="7" name="Image 0" descr="/mnt/data/credit_targeted_final/people_EF65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874520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865376"/>
            <a:ext cx="4160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F65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Female applications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051560" y="2432304"/>
            <a:ext cx="464515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15.60%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for auto-decline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54496" y="1645920"/>
            <a:ext cx="5166360" cy="3438144"/>
          </a:xfrm>
          <a:prstGeom prst="roundRect">
            <a:avLst>
              <a:gd name="adj" fmla="val 3723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54496" y="1645920"/>
            <a:ext cx="68580" cy="3438144"/>
          </a:xfrm>
          <a:prstGeom prst="roundRect">
            <a:avLst>
              <a:gd name="adj" fmla="val 2666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pic>
        <p:nvPicPr>
          <p:cNvPr id="12" name="Image 1" descr="/mnt/data/credit_targeted_final/people_19C9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1874520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31736" y="1865376"/>
            <a:ext cx="4160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 applications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528816" y="2432304"/>
            <a:ext cx="4645152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14.91%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for auto-decline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871216" y="5212080"/>
            <a:ext cx="6675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C5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 percentage-point difference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594360" y="5687568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5687568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50392" y="5751576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Gender excluded from model input; routing parity alone cannot establish fairness.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5F7FC"/>
                </a:solidFill>
                <a:latin typeface="Aptos"/>
              </a:rPr>
              <a:t>Pipeline: from raw input to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76888" y="6483096"/>
            <a:ext cx="219456" cy="1737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EC8D7"/>
                </a:solidFill>
                <a:latin typeface="Aptos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380744"/>
            <a:ext cx="3026664" cy="1417320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63624"/>
            <a:ext cx="539496" cy="557784"/>
          </a:xfrm>
          <a:prstGeom prst="roundRect">
            <a:avLst/>
          </a:prstGeom>
          <a:solidFill>
            <a:srgbClr val="19C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63624"/>
            <a:ext cx="539496" cy="5577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22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545336"/>
            <a:ext cx="2148840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7FC"/>
                </a:solidFill>
                <a:latin typeface="Aptos"/>
              </a:rPr>
              <a:t>Raw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139696"/>
            <a:ext cx="2688336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EC8D7"/>
                </a:solidFill>
                <a:latin typeface="Aptos"/>
              </a:rPr>
              <a:t>Applicant and loan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80744"/>
            <a:ext cx="3026664" cy="1417320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90872" y="1563624"/>
            <a:ext cx="539496" cy="557784"/>
          </a:xfrm>
          <a:prstGeom prst="roundRect">
            <a:avLst/>
          </a:prstGeom>
          <a:solidFill>
            <a:srgbClr val="A88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563624"/>
            <a:ext cx="539496" cy="5577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22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1545336"/>
            <a:ext cx="2148840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7FC"/>
                </a:solidFill>
                <a:latin typeface="Aptos"/>
              </a:rPr>
              <a:t>Income Imputation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39696"/>
            <a:ext cx="2688336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EC8D7"/>
                </a:solidFill>
                <a:latin typeface="Aptos"/>
              </a:rPr>
              <a:t>Employment-based train medians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22208" y="1380744"/>
            <a:ext cx="3026664" cy="1417320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41080" y="1563624"/>
            <a:ext cx="539496" cy="557784"/>
          </a:xfrm>
          <a:prstGeom prst="roundRect">
            <a:avLst/>
          </a:prstGeom>
          <a:solidFill>
            <a:srgbClr val="FFC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1563624"/>
            <a:ext cx="539496" cy="5577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224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1545336"/>
            <a:ext cx="2148840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7FC"/>
                </a:solidFill>
                <a:latin typeface="Aptos"/>
              </a:rPr>
              <a:t>Feature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2139696"/>
            <a:ext cx="2688336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EC8D7"/>
                </a:solidFill>
                <a:latin typeface="Aptos"/>
              </a:rPr>
              <a:t>Calculate FOIR, LTI and NTC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5392" y="3767328"/>
            <a:ext cx="3026664" cy="1417320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84264" y="3950208"/>
            <a:ext cx="539496" cy="557784"/>
          </a:xfrm>
          <a:prstGeom prst="roundRect">
            <a:avLst/>
          </a:prstGeom>
          <a:solidFill>
            <a:srgbClr val="EF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84264" y="3950208"/>
            <a:ext cx="539496" cy="5577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224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3931920"/>
            <a:ext cx="2148840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7FC"/>
                </a:solidFill>
                <a:latin typeface="Aptos"/>
              </a:rPr>
              <a:t>Scaling &amp;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4526280"/>
            <a:ext cx="2688336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EC8D7"/>
                </a:solidFill>
                <a:latin typeface="Aptos"/>
              </a:rPr>
              <a:t>Prepare numerical and category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96896" y="3767328"/>
            <a:ext cx="3026664" cy="1417320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15768" y="3950208"/>
            <a:ext cx="539496" cy="557784"/>
          </a:xfrm>
          <a:prstGeom prst="roundRect">
            <a:avLst/>
          </a:prstGeom>
          <a:solidFill>
            <a:srgbClr val="2E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15768" y="3950208"/>
            <a:ext cx="539496" cy="5577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1224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931920"/>
            <a:ext cx="2148840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5F7FC"/>
                </a:solidFill>
                <a:latin typeface="Aptos"/>
              </a:rPr>
              <a:t>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98064" y="4526280"/>
            <a:ext cx="2688336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EC8D7"/>
                </a:solidFill>
                <a:latin typeface="Aptos"/>
              </a:rPr>
              <a:t>Output historical decision probabilities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0" y="2075688"/>
            <a:ext cx="914400" cy="0"/>
          </a:xfrm>
          <a:prstGeom prst="line">
            <a:avLst/>
          </a:prstGeom>
          <a:ln w="38100">
            <a:solidFill>
              <a:srgbClr val="19C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86784" y="1828800"/>
            <a:ext cx="256032" cy="43891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9C9E7"/>
                </a:solidFill>
                <a:latin typeface="Aptos"/>
              </a:rPr>
              <a:t>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98664" y="2075688"/>
            <a:ext cx="923544" cy="0"/>
          </a:xfrm>
          <a:prstGeom prst="line">
            <a:avLst/>
          </a:prstGeom>
          <a:ln w="38100">
            <a:solidFill>
              <a:srgbClr val="19C9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32420" y="1828800"/>
            <a:ext cx="256032" cy="43891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9C9E7"/>
                </a:solidFill>
                <a:latin typeface="Aptos"/>
              </a:rPr>
              <a:t>›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40112" y="2798064"/>
            <a:ext cx="0" cy="384048"/>
          </a:xfrm>
          <a:prstGeom prst="line">
            <a:avLst/>
          </a:prstGeom>
          <a:ln w="38100">
            <a:solidFill>
              <a:srgbClr val="EF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147304" y="3182112"/>
            <a:ext cx="1892808" cy="0"/>
          </a:xfrm>
          <a:prstGeom prst="line">
            <a:avLst/>
          </a:prstGeom>
          <a:ln w="38100">
            <a:solidFill>
              <a:srgbClr val="EF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147304" y="3182112"/>
            <a:ext cx="0" cy="585216"/>
          </a:xfrm>
          <a:prstGeom prst="line">
            <a:avLst/>
          </a:prstGeom>
          <a:ln w="38100">
            <a:solidFill>
              <a:srgbClr val="EF6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623560" y="4471416"/>
            <a:ext cx="941832" cy="0"/>
          </a:xfrm>
          <a:prstGeom prst="line">
            <a:avLst/>
          </a:prstGeom>
          <a:ln w="38100">
            <a:solidFill>
              <a:srgbClr val="2ED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934456" y="4251960"/>
            <a:ext cx="411480" cy="45720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ED3A5"/>
                </a:solidFill>
                <a:latin typeface="Aptos"/>
              </a:rPr>
              <a:t>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6035040"/>
            <a:ext cx="11018520" cy="512064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3504" y="6035040"/>
            <a:ext cx="82296" cy="512064"/>
          </a:xfrm>
          <a:prstGeom prst="rect">
            <a:avLst/>
          </a:prstGeom>
          <a:solidFill>
            <a:srgbClr val="19C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" y="6071616"/>
            <a:ext cx="1056132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C"/>
                </a:solidFill>
                <a:latin typeface="Aptos"/>
              </a:rPr>
              <a:t>Every new application follows the same training-learned preprocessing steps.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algorithms. Five cross-validation folds.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13232" y="139903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five-fold CV works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49808" y="1975104"/>
            <a:ext cx="283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188720" y="1956816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EF65B4"/>
          </a:solidFill>
          <a:ln w="12700">
            <a:solidFill>
              <a:srgbClr val="EF65B4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20240" y="1956816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51760" y="1956816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83280" y="1956816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0" y="1956816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2587752"/>
            <a:ext cx="283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188720" y="2569464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20240" y="2569464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EF65B4"/>
          </a:solidFill>
          <a:ln w="12700">
            <a:solidFill>
              <a:srgbClr val="EF65B4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51760" y="2569464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83280" y="2569464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0" y="2569464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3200400"/>
            <a:ext cx="283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188720" y="3182112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920240" y="3182112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651760" y="3182112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EF65B4"/>
          </a:solidFill>
          <a:ln w="12700">
            <a:solidFill>
              <a:srgbClr val="EF65B4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83280" y="3182112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114800" y="3182112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9808" y="3813048"/>
            <a:ext cx="283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188720" y="3794760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920240" y="3794760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51760" y="3794760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383280" y="3794760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EF65B4"/>
          </a:solidFill>
          <a:ln w="12700">
            <a:solidFill>
              <a:srgbClr val="EF65B4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114800" y="3794760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" y="4425696"/>
            <a:ext cx="283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188720" y="4407408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920240" y="4407408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651760" y="4407408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83280" y="4407408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0" y="4407408"/>
            <a:ext cx="612648" cy="365760"/>
          </a:xfrm>
          <a:prstGeom prst="roundRect">
            <a:avLst>
              <a:gd name="adj" fmla="val 15000"/>
            </a:avLst>
          </a:prstGeom>
          <a:solidFill>
            <a:srgbClr val="EF65B4"/>
          </a:solidFill>
          <a:ln w="12700">
            <a:solidFill>
              <a:srgbClr val="EF65B4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5202936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 = validation  •  Cyan = training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053328" y="139903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ROC-AUC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6108192" y="1938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6126480" y="2386584"/>
            <a:ext cx="4224528" cy="155448"/>
          </a:xfrm>
          <a:prstGeom prst="roundRect">
            <a:avLst>
              <a:gd name="adj" fmla="val 41176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126480" y="2386584"/>
            <a:ext cx="3757295" cy="155448"/>
          </a:xfrm>
          <a:prstGeom prst="roundRect">
            <a:avLst>
              <a:gd name="adj" fmla="val 41176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378440" y="2231136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0.8894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108192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6126480" y="3191256"/>
            <a:ext cx="4224528" cy="155448"/>
          </a:xfrm>
          <a:prstGeom prst="roundRect">
            <a:avLst>
              <a:gd name="adj" fmla="val 41176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126480" y="3191256"/>
            <a:ext cx="3713783" cy="155448"/>
          </a:xfrm>
          <a:prstGeom prst="roundRect">
            <a:avLst>
              <a:gd name="adj" fmla="val 41176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378440" y="3035808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0.8791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6108192" y="3547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6126480" y="3995928"/>
            <a:ext cx="4224528" cy="155448"/>
          </a:xfrm>
          <a:prstGeom prst="roundRect">
            <a:avLst>
              <a:gd name="adj" fmla="val 41176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126480" y="3995928"/>
            <a:ext cx="3665623" cy="155448"/>
          </a:xfrm>
          <a:prstGeom prst="roundRect">
            <a:avLst>
              <a:gd name="adj" fmla="val 41176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378440" y="3840480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88A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0.8677</a:t>
            </a:r>
            <a:endParaRPr lang="en-US" sz="1800" dirty="0"/>
          </a:p>
        </p:txBody>
      </p:sp>
      <p:sp>
        <p:nvSpPr>
          <p:cNvPr id="50" name="Text 47"/>
          <p:cNvSpPr/>
          <p:nvPr/>
        </p:nvSpPr>
        <p:spPr>
          <a:xfrm>
            <a:off x="6108192" y="43525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1700" dirty="0"/>
          </a:p>
        </p:txBody>
      </p:sp>
      <p:sp>
        <p:nvSpPr>
          <p:cNvPr id="51" name="Shape 48"/>
          <p:cNvSpPr/>
          <p:nvPr/>
        </p:nvSpPr>
        <p:spPr>
          <a:xfrm>
            <a:off x="6126480" y="4800600"/>
            <a:ext cx="4224528" cy="155448"/>
          </a:xfrm>
          <a:prstGeom prst="roundRect">
            <a:avLst>
              <a:gd name="adj" fmla="val 41176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126480" y="4800600"/>
            <a:ext cx="3050954" cy="155448"/>
          </a:xfrm>
          <a:prstGeom prst="roundRect">
            <a:avLst>
              <a:gd name="adj" fmla="val 41176"/>
            </a:avLst>
          </a:prstGeom>
          <a:solidFill>
            <a:srgbClr val="FFC532"/>
          </a:solidFill>
          <a:ln w="12700">
            <a:solidFill>
              <a:srgbClr val="FFC532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378440" y="4645152"/>
            <a:ext cx="987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C5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0.7222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594360" y="5797296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94360" y="5797296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50392" y="5861304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fold validates once; Gradient Boosting has the highest mean ROC-AUC.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 improved the baseline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04088" y="1572768"/>
            <a:ext cx="3520440" cy="3355848"/>
          </a:xfrm>
          <a:prstGeom prst="roundRect">
            <a:avLst>
              <a:gd name="adj" fmla="val 3815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4088" y="1572768"/>
            <a:ext cx="68580" cy="3355848"/>
          </a:xfrm>
          <a:prstGeom prst="roundRect">
            <a:avLst>
              <a:gd name="adj" fmla="val 2666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pic>
        <p:nvPicPr>
          <p:cNvPr id="7" name="Image 0" descr="/mnt/data/credit_targeted_final/chart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01368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1792224"/>
            <a:ext cx="2514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978408" y="2359152"/>
            <a:ext cx="29992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0.8848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quality on test applications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325112" y="1572768"/>
            <a:ext cx="3520440" cy="3355848"/>
          </a:xfrm>
          <a:prstGeom prst="roundRect">
            <a:avLst>
              <a:gd name="adj" fmla="val 3815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25112" y="1572768"/>
            <a:ext cx="68580" cy="3355848"/>
          </a:xfrm>
          <a:prstGeom prst="roundRect">
            <a:avLst>
              <a:gd name="adj" fmla="val 2666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pic>
        <p:nvPicPr>
          <p:cNvPr id="12" name="Image 1" descr="/mnt/data/credit_targeted_final/target_2ED3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80136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02352" y="1792224"/>
            <a:ext cx="2514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4599432" y="2359152"/>
            <a:ext cx="29992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80.42%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from Logistic Regression (79.04%)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946136" y="1572768"/>
            <a:ext cx="3520440" cy="3355848"/>
          </a:xfrm>
          <a:prstGeom prst="roundRect">
            <a:avLst>
              <a:gd name="adj" fmla="val 3815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946136" y="1572768"/>
            <a:ext cx="68580" cy="3355848"/>
          </a:xfrm>
          <a:prstGeom prst="roundRect">
            <a:avLst>
              <a:gd name="adj" fmla="val 26667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pic>
        <p:nvPicPr>
          <p:cNvPr id="17" name="Image 2" descr="/mnt/data/credit_targeted_final/shield_A88AF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180136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23376" y="1792224"/>
            <a:ext cx="2514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A88A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Decline precision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8220456" y="2359152"/>
            <a:ext cx="299923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81.77%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for declines: 75.11%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94360" y="5550408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4360" y="5550408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50392" y="5614416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prediction performance still requires separate automated-lane cutoffs.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features mattered most to the model?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499616"/>
            <a:ext cx="10753344" cy="1051560"/>
          </a:xfrm>
          <a:prstGeom prst="roundRect">
            <a:avLst>
              <a:gd name="adj" fmla="val 11304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pic>
        <p:nvPicPr>
          <p:cNvPr id="6" name="Image 0" descr="/mnt/data/credit_targeted_final/clock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37360"/>
            <a:ext cx="521208" cy="5212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1640" y="1600200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Delinquencies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691640" y="20116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missed-payment behaviour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784848" y="1993392"/>
            <a:ext cx="3456432" cy="182880"/>
          </a:xfrm>
          <a:prstGeom prst="roundRect">
            <a:avLst>
              <a:gd name="adj" fmla="val 30000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784848" y="1993392"/>
            <a:ext cx="3008083" cy="182880"/>
          </a:xfrm>
          <a:prstGeom prst="roundRect">
            <a:avLst>
              <a:gd name="adj" fmla="val 30000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378440" y="1792224"/>
            <a:ext cx="923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30.46%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731520" y="2743200"/>
            <a:ext cx="10753344" cy="1051560"/>
          </a:xfrm>
          <a:prstGeom prst="roundRect">
            <a:avLst>
              <a:gd name="adj" fmla="val 11304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pic>
        <p:nvPicPr>
          <p:cNvPr id="13" name="Image 1" descr="/mnt/data/credit_targeted_final/chart_A88A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980944"/>
            <a:ext cx="521208" cy="521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2843784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score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1691640" y="32552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Credit-history signal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784848" y="3236976"/>
            <a:ext cx="3456432" cy="182880"/>
          </a:xfrm>
          <a:prstGeom prst="roundRect">
            <a:avLst>
              <a:gd name="adj" fmla="val 30000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84848" y="3236976"/>
            <a:ext cx="2863901" cy="182880"/>
          </a:xfrm>
          <a:prstGeom prst="roundRect">
            <a:avLst>
              <a:gd name="adj" fmla="val 30000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378440" y="3035808"/>
            <a:ext cx="923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A88A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29.00%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731520" y="3986784"/>
            <a:ext cx="10753344" cy="1051560"/>
          </a:xfrm>
          <a:prstGeom prst="roundRect">
            <a:avLst>
              <a:gd name="adj" fmla="val 11304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pic>
        <p:nvPicPr>
          <p:cNvPr id="20" name="Image 2" descr="/mnt/data/credit_targeted_final/calc_2ED3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24528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4087368"/>
            <a:ext cx="3108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FOIR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1691640" y="449884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repayment burden vs income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6784848" y="4480560"/>
            <a:ext cx="3456432" cy="182880"/>
          </a:xfrm>
          <a:prstGeom prst="roundRect">
            <a:avLst>
              <a:gd name="adj" fmla="val 30000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84848" y="4480560"/>
            <a:ext cx="2831312" cy="182880"/>
          </a:xfrm>
          <a:prstGeom prst="roundRect">
            <a:avLst>
              <a:gd name="adj" fmla="val 30000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378440" y="4279392"/>
            <a:ext cx="92354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28.67%</a:t>
            </a:r>
            <a:endParaRPr lang="en-US" sz="1900" dirty="0"/>
          </a:p>
        </p:txBody>
      </p:sp>
      <p:sp>
        <p:nvSpPr>
          <p:cNvPr id="26" name="Shape 20"/>
          <p:cNvSpPr/>
          <p:nvPr/>
        </p:nvSpPr>
        <p:spPr>
          <a:xfrm>
            <a:off x="594360" y="5660136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4360" y="5660136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50392" y="5724144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three ≈88.13% of feature importance; importance does not imply causation.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approval score → three decision lanes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  <p:pic>
        <p:nvPicPr>
          <p:cNvPr id="5" name="Image 0" descr="/mnt/data/credit_targeted_final/file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064" y="1472184"/>
            <a:ext cx="484632" cy="4846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44568" y="1499616"/>
            <a:ext cx="3127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 application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5742432" y="2002536"/>
            <a:ext cx="621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3758184" y="2441448"/>
            <a:ext cx="4690872" cy="676656"/>
          </a:xfrm>
          <a:prstGeom prst="roundRect">
            <a:avLst>
              <a:gd name="adj" fmla="val 21622"/>
            </a:avLst>
          </a:prstGeom>
          <a:solidFill>
            <a:srgbClr val="26314B"/>
          </a:solidFill>
          <a:ln w="12700">
            <a:solidFill>
              <a:srgbClr val="26314B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95344" y="2569464"/>
            <a:ext cx="4434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APPROVAL probability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108192" y="3118104"/>
            <a:ext cx="0" cy="393192"/>
          </a:xfrm>
          <a:prstGeom prst="line">
            <a:avLst/>
          </a:prstGeom>
          <a:noFill/>
          <a:ln w="16510">
            <a:solidFill>
              <a:srgbClr val="C6CCD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487168" y="3511296"/>
            <a:ext cx="7214616" cy="0"/>
          </a:xfrm>
          <a:prstGeom prst="line">
            <a:avLst/>
          </a:prstGeom>
          <a:noFill/>
          <a:ln w="16510">
            <a:solidFill>
              <a:srgbClr val="C6CC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450592" y="3511296"/>
            <a:ext cx="0" cy="320040"/>
          </a:xfrm>
          <a:prstGeom prst="line">
            <a:avLst/>
          </a:prstGeom>
          <a:noFill/>
          <a:ln w="16510">
            <a:solidFill>
              <a:srgbClr val="FB767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49808" y="3849624"/>
            <a:ext cx="3410712" cy="1417320"/>
          </a:xfrm>
          <a:prstGeom prst="roundRect">
            <a:avLst>
              <a:gd name="adj" fmla="val 9032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pic>
        <p:nvPicPr>
          <p:cNvPr id="14" name="Image 1" descr="/mnt/data/credit_targeted_final/shield_FB767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133088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81912" y="4041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B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AUTO-DECLINE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1581912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low approval score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263640" y="3511296"/>
            <a:ext cx="0" cy="320040"/>
          </a:xfrm>
          <a:prstGeom prst="line">
            <a:avLst/>
          </a:prstGeom>
          <a:noFill/>
          <a:ln w="16510">
            <a:solidFill>
              <a:srgbClr val="FFC53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562856" y="3849624"/>
            <a:ext cx="3410712" cy="1417320"/>
          </a:xfrm>
          <a:prstGeom prst="roundRect">
            <a:avLst>
              <a:gd name="adj" fmla="val 9032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pic>
        <p:nvPicPr>
          <p:cNvPr id="19" name="Image 2" descr="/mnt/data/credit_targeted_final/people_FFC5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133088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4041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C5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REVIEW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539496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 middle score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10076688" y="3511296"/>
            <a:ext cx="0" cy="320040"/>
          </a:xfrm>
          <a:prstGeom prst="line">
            <a:avLst/>
          </a:prstGeom>
          <a:noFill/>
          <a:ln w="16510">
            <a:solidFill>
              <a:srgbClr val="2ED3A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375904" y="3849624"/>
            <a:ext cx="3410712" cy="1417320"/>
          </a:xfrm>
          <a:prstGeom prst="roundRect">
            <a:avLst>
              <a:gd name="adj" fmla="val 9032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pic>
        <p:nvPicPr>
          <p:cNvPr id="24" name="Image 3" descr="/mnt/data/credit_targeted_final/check_2ED3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133088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208008" y="4041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FAST-TRACK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9208008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approval score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594360" y="5769864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94360" y="5769864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50392" y="5833872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Fast-track requires verification; uncertain applications stay with analysts.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5F7FC"/>
                </a:solidFill>
                <a:latin typeface="Aptos"/>
              </a:rPr>
              <a:t>Main result: Gradient Boosting under 5%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76888" y="6483096"/>
            <a:ext cx="219456" cy="1737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EC8D7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197864"/>
            <a:ext cx="10789920" cy="32004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C9E7"/>
                </a:solidFill>
                <a:latin typeface="Aptos"/>
              </a:rPr>
              <a:t>APPROVAL PROBABILITY →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55648"/>
            <a:ext cx="2926080" cy="1133856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755648"/>
            <a:ext cx="82296" cy="1133856"/>
          </a:xfrm>
          <a:prstGeom prst="rect">
            <a:avLst/>
          </a:prstGeom>
          <a:solidFill>
            <a:srgbClr val="FB7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74519"/>
            <a:ext cx="2688336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B767A"/>
                </a:solidFill>
                <a:latin typeface="Aptos"/>
              </a:rPr>
              <a:t>&lt; 17.40%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76272"/>
            <a:ext cx="2688336" cy="35661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C"/>
                </a:solidFill>
                <a:latin typeface="Aptos"/>
              </a:rPr>
              <a:t>AUTO-DECLINE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32888"/>
            <a:ext cx="2688336" cy="23774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EC8D7"/>
                </a:solidFill>
                <a:latin typeface="Aptos"/>
              </a:rPr>
              <a:t>590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1755648"/>
            <a:ext cx="4480560" cy="1133856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76472" y="1755648"/>
            <a:ext cx="82296" cy="1133856"/>
          </a:xfrm>
          <a:prstGeom prst="rect">
            <a:avLst/>
          </a:prstGeom>
          <a:solidFill>
            <a:srgbClr val="FFC5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13632" y="1874519"/>
            <a:ext cx="4242816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C532"/>
                </a:solidFill>
                <a:latin typeface="Aptos"/>
              </a:rPr>
              <a:t>17.40–88.69%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2" y="2176272"/>
            <a:ext cx="4242816" cy="35661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C"/>
                </a:solidFill>
                <a:latin typeface="Aptos"/>
              </a:rPr>
              <a:t>HUMAN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2" y="2532888"/>
            <a:ext cx="4242816" cy="23774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EC8D7"/>
                </a:solidFill>
                <a:latin typeface="Aptos"/>
              </a:rPr>
              <a:t>1,345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03336" y="1755648"/>
            <a:ext cx="3054096" cy="1133856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03336" y="1755648"/>
            <a:ext cx="82296" cy="1133856"/>
          </a:xfrm>
          <a:prstGeom prst="rect">
            <a:avLst/>
          </a:prstGeom>
          <a:solidFill>
            <a:srgbClr val="2E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0496" y="1874519"/>
            <a:ext cx="2816352" cy="30175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ED3A5"/>
                </a:solidFill>
                <a:latin typeface="Aptos"/>
              </a:rPr>
              <a:t>&gt; 88.69%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2176272"/>
            <a:ext cx="2816352" cy="35661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F7FC"/>
                </a:solidFill>
                <a:latin typeface="Aptos"/>
              </a:rPr>
              <a:t>FAST-TRACK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532888"/>
            <a:ext cx="2816352" cy="23774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EC8D7"/>
                </a:solidFill>
                <a:latin typeface="Aptos"/>
              </a:rPr>
              <a:t>465 cases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64408"/>
            <a:ext cx="3703320" cy="1527048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3511296"/>
            <a:ext cx="3255264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700" b="1">
                <a:solidFill>
                  <a:srgbClr val="19C9E7"/>
                </a:solidFill>
                <a:latin typeface="Aptos"/>
              </a:rPr>
              <a:t>43.96%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33087"/>
            <a:ext cx="3392424" cy="39319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5F7FC"/>
                </a:solidFill>
                <a:latin typeface="Aptos"/>
              </a:rPr>
              <a:t>historical automation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5152" y="3264408"/>
            <a:ext cx="3346704" cy="1527048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55464" y="3493008"/>
            <a:ext cx="2907792" cy="521207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B767A"/>
                </a:solidFill>
                <a:latin typeface="Aptos"/>
              </a:rPr>
              <a:t>4.92%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176" y="4114800"/>
            <a:ext cx="294436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wrong auto-decline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02168" y="3264408"/>
            <a:ext cx="3246120" cy="1527048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3493008"/>
            <a:ext cx="2889504" cy="521207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2ED3A5"/>
                </a:solidFill>
                <a:latin typeface="Aptos"/>
              </a:rPr>
              <a:t>4.95%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114800"/>
            <a:ext cx="2926080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wrong fast-track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65776"/>
            <a:ext cx="10808208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5F7FC"/>
                </a:solidFill>
                <a:latin typeface="Aptos"/>
              </a:rPr>
              <a:t>•  Compared with Logistic Regression, Gradient Boosting routed more cases out of full review.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40680"/>
            <a:ext cx="10808208" cy="35661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EC8D7"/>
                </a:solidFill>
                <a:latin typeface="Aptos"/>
              </a:rPr>
              <a:t>•  Both observed lane disagreements met 5%; these historical estimates require fresh validation.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impact: reduce full reviews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58952" y="1408176"/>
            <a:ext cx="5285232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86968" y="154533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554480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17904" y="1481328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INTAKE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17904" y="1819656"/>
            <a:ext cx="4370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 loan applications</a:t>
            </a:r>
            <a:endParaRPr lang="en-US" sz="1400" dirty="0"/>
          </a:p>
        </p:txBody>
      </p:sp>
      <p:pic>
        <p:nvPicPr>
          <p:cNvPr id="10" name="Image 0" descr="/mnt/data/credit_targeted_final/file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591056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58952" y="2404872"/>
            <a:ext cx="5285232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86968" y="2542032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2551176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517904" y="2478024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SHARE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517904" y="2816352"/>
            <a:ext cx="4370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43.96% routed out of full review</a:t>
            </a:r>
            <a:endParaRPr lang="en-US" sz="1400" dirty="0"/>
          </a:p>
        </p:txBody>
      </p:sp>
      <p:pic>
        <p:nvPicPr>
          <p:cNvPr id="16" name="Image 1" descr="/mnt/data/credit_targeted_final/flow_A88A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2587752"/>
            <a:ext cx="310896" cy="310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58952" y="3401568"/>
            <a:ext cx="5285232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86968" y="35387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14400" y="3547872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517904" y="3474720"/>
            <a:ext cx="4370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AVOIDED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517904" y="3813048"/>
            <a:ext cx="43708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Approximately 1,319 per month</a:t>
            </a:r>
            <a:endParaRPr lang="en-US" sz="1400" dirty="0"/>
          </a:p>
        </p:txBody>
      </p:sp>
      <p:pic>
        <p:nvPicPr>
          <p:cNvPr id="22" name="Image 2" descr="/mnt/data/credit_targeted_final/check_2ED3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3584448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28232" y="1444752"/>
            <a:ext cx="4782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manual reviews / month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6455664" y="21214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 3,000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6473952" y="2578608"/>
            <a:ext cx="4471416" cy="265176"/>
          </a:xfrm>
          <a:prstGeom prst="roundRect">
            <a:avLst>
              <a:gd name="adj" fmla="val 27586"/>
            </a:avLst>
          </a:prstGeom>
          <a:solidFill>
            <a:srgbClr val="FB767A"/>
          </a:solidFill>
          <a:ln w="12700">
            <a:solidFill>
              <a:srgbClr val="FB767A">
                <a:alpha val="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55664" y="31821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 ≈1,681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6473952" y="3630168"/>
            <a:ext cx="2505782" cy="265176"/>
          </a:xfrm>
          <a:prstGeom prst="roundRect">
            <a:avLst>
              <a:gd name="adj" fmla="val 27586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510528" y="4206240"/>
            <a:ext cx="4315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549.48</a:t>
            </a:r>
            <a:endParaRPr lang="en-US" sz="3500" dirty="0"/>
          </a:p>
        </p:txBody>
      </p:sp>
      <p:sp>
        <p:nvSpPr>
          <p:cNvPr id="29" name="Text 23"/>
          <p:cNvSpPr/>
          <p:nvPr/>
        </p:nvSpPr>
        <p:spPr>
          <a:xfrm>
            <a:off x="6510528" y="501091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analyst-hours potentially freed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594360" y="5733288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4360" y="5733288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50392" y="5797296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Projected gross hours exclude time spent verifying fast-track applications.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we separate threshold validation?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40664" y="1673352"/>
            <a:ext cx="5148072" cy="3520440"/>
          </a:xfrm>
          <a:prstGeom prst="roundRect">
            <a:avLst>
              <a:gd name="adj" fmla="val 3636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0664" y="1673352"/>
            <a:ext cx="68580" cy="3520440"/>
          </a:xfrm>
          <a:prstGeom prst="roundRect">
            <a:avLst>
              <a:gd name="adj" fmla="val 26667"/>
            </a:avLst>
          </a:prstGeom>
          <a:solidFill>
            <a:srgbClr val="FB767A"/>
          </a:solidFill>
          <a:ln w="12700">
            <a:solidFill>
              <a:srgbClr val="FB767A">
                <a:alpha val="0"/>
              </a:srgbClr>
            </a:solidFill>
            <a:prstDash val="solid"/>
          </a:ln>
        </p:spPr>
      </p:sp>
      <p:pic>
        <p:nvPicPr>
          <p:cNvPr id="7" name="Image 0" descr="/mnt/data/credit_targeted_final/shield_FB767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01952"/>
            <a:ext cx="420624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17904" y="1892808"/>
            <a:ext cx="4142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B7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method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014984" y="2459736"/>
            <a:ext cx="462686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2,400 test cases to select cutoffs and report their errors.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optimistic estimates.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91072" y="1673352"/>
            <a:ext cx="5148072" cy="3520440"/>
          </a:xfrm>
          <a:prstGeom prst="roundRect">
            <a:avLst>
              <a:gd name="adj" fmla="val 3636"/>
            </a:avLst>
          </a:prstGeom>
          <a:solidFill>
            <a:srgbClr val="1C2439"/>
          </a:solidFill>
          <a:ln w="12700">
            <a:solidFill>
              <a:srgbClr val="1C2439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91072" y="1673352"/>
            <a:ext cx="68580" cy="3520440"/>
          </a:xfrm>
          <a:prstGeom prst="roundRect">
            <a:avLst>
              <a:gd name="adj" fmla="val 2666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pic>
        <p:nvPicPr>
          <p:cNvPr id="12" name="Image 1" descr="/mnt/data/credit_targeted_final/check_2ED3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901952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68312" y="1892808"/>
            <a:ext cx="41422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ED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experiment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565392" y="2459736"/>
            <a:ext cx="462686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one subset.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cutoffs on validation data.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fixed cutoffs on another subset.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94360" y="5623560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5623560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50392" y="5687568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existing test set had already been examined; fresh data is still needed.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Supplementary: validation-selected cutoffs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850392" y="1508760"/>
            <a:ext cx="10607040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78408" y="164592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655064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09344" y="1581912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9344" y="1920240"/>
            <a:ext cx="9692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7,680 applications</a:t>
            </a:r>
            <a:endParaRPr lang="en-US" sz="1400" dirty="0"/>
          </a:p>
        </p:txBody>
      </p:sp>
      <p:pic>
        <p:nvPicPr>
          <p:cNvPr id="10" name="Image 0" descr="/mnt/data/credit_targeted_final/brain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16" y="1691640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50392" y="2487168"/>
            <a:ext cx="10607040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78408" y="262432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5840" y="2633472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609344" y="256032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609344" y="2898648"/>
            <a:ext cx="9692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1,920 validation applications</a:t>
            </a:r>
            <a:endParaRPr lang="en-US" sz="1400" dirty="0"/>
          </a:p>
        </p:txBody>
      </p:sp>
      <p:pic>
        <p:nvPicPr>
          <p:cNvPr id="16" name="Image 1" descr="/mnt/data/credit_targeted_final/sliders_A88A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216" y="2670048"/>
            <a:ext cx="310896" cy="310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50392" y="3465576"/>
            <a:ext cx="10607040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78408" y="360273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05840" y="3611880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609344" y="35387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609344" y="3877056"/>
            <a:ext cx="9692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2,400 existing test applications</a:t>
            </a:r>
            <a:endParaRPr lang="en-US" sz="1400" dirty="0"/>
          </a:p>
        </p:txBody>
      </p:sp>
      <p:pic>
        <p:nvPicPr>
          <p:cNvPr id="22" name="Image 2" descr="/mnt/data/credit_targeted_final/target_2ED3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216" y="364845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4400" y="4882896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16.51% low cutoff  ·  88.47% high cutoff  ·  43.71% automation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594360" y="5751576"/>
            <a:ext cx="10991088" cy="621792"/>
          </a:xfrm>
          <a:prstGeom prst="roundRect">
            <a:avLst>
              <a:gd name="adj" fmla="val 20588"/>
            </a:avLst>
          </a:prstGeom>
          <a:solidFill>
            <a:srgbClr val="222A41"/>
          </a:solidFill>
          <a:ln w="12700">
            <a:solidFill>
              <a:srgbClr val="222A41">
                <a:alpha val="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94360" y="5751576"/>
            <a:ext cx="91440" cy="621792"/>
          </a:xfrm>
          <a:prstGeom prst="roundRect">
            <a:avLst/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50392" y="5815584"/>
            <a:ext cx="104058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test errors: 4.71% decline and 4.83% fast-track.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5F7FC"/>
                </a:solidFill>
                <a:latin typeface="Aptos"/>
              </a:rPr>
              <a:t>Automation versus safety: what changed?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76888" y="6483096"/>
            <a:ext cx="219456" cy="1737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EC8D7"/>
                </a:solidFill>
                <a:latin typeface="Aptos"/>
              </a:rPr>
              <a:t>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362456"/>
            <a:ext cx="5248656" cy="4297680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6656" y="1362456"/>
            <a:ext cx="91440" cy="4297680"/>
          </a:xfrm>
          <a:prstGeom prst="rect">
            <a:avLst/>
          </a:prstGeom>
          <a:solidFill>
            <a:srgbClr val="19C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4617720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9C9E7"/>
                </a:solidFill>
                <a:latin typeface="Aptos"/>
              </a:rPr>
              <a:t>MAIN POLICY · 5%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13432"/>
            <a:ext cx="331012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313432"/>
            <a:ext cx="128016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C9E7"/>
                </a:solidFill>
                <a:latin typeface="Aptos"/>
              </a:rPr>
              <a:t>43.96%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35808"/>
            <a:ext cx="331012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Wrong decline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3035808"/>
            <a:ext cx="128016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C9E7"/>
                </a:solidFill>
                <a:latin typeface="Aptos"/>
              </a:rPr>
              <a:t>4.92%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58183"/>
            <a:ext cx="331012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Wrong fast-track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758183"/>
            <a:ext cx="128016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C9E7"/>
                </a:solidFill>
                <a:latin typeface="Aptos"/>
              </a:rPr>
              <a:t>4.95%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480560"/>
            <a:ext cx="331012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Potential gross hours /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4480560"/>
            <a:ext cx="128016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9C9E7"/>
                </a:solidFill>
                <a:latin typeface="Aptos"/>
              </a:rPr>
              <a:t>549.48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1362456"/>
            <a:ext cx="5248656" cy="4297680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54496" y="1362456"/>
            <a:ext cx="91440" cy="4297680"/>
          </a:xfrm>
          <a:prstGeom prst="rect">
            <a:avLst/>
          </a:prstGeom>
          <a:solidFill>
            <a:srgbClr val="A88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59" y="1627632"/>
            <a:ext cx="4617720" cy="3657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88AF4"/>
                </a:solidFill>
                <a:latin typeface="Aptos"/>
              </a:rPr>
              <a:t>SUPPLEMENTARY · 3%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13432"/>
            <a:ext cx="331012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2313432"/>
            <a:ext cx="128016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8AF4"/>
                </a:solidFill>
                <a:latin typeface="Aptos"/>
              </a:rPr>
              <a:t>36.67%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035808"/>
            <a:ext cx="331012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Wrong decline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3808" y="3035808"/>
            <a:ext cx="128016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8AF4"/>
                </a:solidFill>
                <a:latin typeface="Aptos"/>
              </a:rPr>
              <a:t>3.17%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758183"/>
            <a:ext cx="331012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Wrong fast-track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3758183"/>
            <a:ext cx="128016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8AF4"/>
                </a:solidFill>
                <a:latin typeface="Aptos"/>
              </a:rPr>
              <a:t>4.00%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480560"/>
            <a:ext cx="331012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EC8D7"/>
                </a:solidFill>
                <a:latin typeface="Aptos"/>
              </a:rPr>
              <a:t>Potential gross hours /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4480560"/>
            <a:ext cx="128016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88AF4"/>
                </a:solidFill>
                <a:latin typeface="Aptos"/>
              </a:rPr>
              <a:t>458.33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6035040"/>
            <a:ext cx="11018520" cy="512064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" y="6035040"/>
            <a:ext cx="82296" cy="512064"/>
          </a:xfrm>
          <a:prstGeom prst="rect">
            <a:avLst/>
          </a:prstGeom>
          <a:solidFill>
            <a:srgbClr val="2E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6071616"/>
            <a:ext cx="1056132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C"/>
                </a:solidFill>
                <a:latin typeface="Aptos"/>
              </a:rPr>
              <a:t>Main policy automates more; conservative cutoffs show lower observed historical errors.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972800" cy="59436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5F7FC"/>
                </a:solidFill>
                <a:latin typeface="Aptos"/>
              </a:rPr>
              <a:t>K-Means: did prediction errors differ by group?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76888" y="6483096"/>
            <a:ext cx="219456" cy="1737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EC8D7"/>
                </a:solidFill>
                <a:latin typeface="Aptos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25296"/>
            <a:ext cx="193852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9C9E7"/>
                </a:solidFill>
                <a:latin typeface="Aptos"/>
              </a:rPr>
              <a:t>WHY CLUSTER?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1197864"/>
            <a:ext cx="8805672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5F7FC"/>
                </a:solidFill>
                <a:latin typeface="Aptos"/>
              </a:rPr>
              <a:t>To check whether Gradient Boosting errors differ for applicants with similar profiles.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221224" cy="3209544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32" y="2231136"/>
            <a:ext cx="576072" cy="566928"/>
          </a:xfrm>
          <a:prstGeom prst="roundRect">
            <a:avLst/>
          </a:prstGeom>
          <a:solidFill>
            <a:srgbClr val="19C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231136"/>
            <a:ext cx="576072" cy="56692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224"/>
                </a:solidFill>
                <a:latin typeface="Aptos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2212848"/>
            <a:ext cx="3895344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C"/>
                </a:solidFill>
                <a:latin typeface="Aptos"/>
              </a:rPr>
              <a:t>Cluster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61488"/>
            <a:ext cx="4535424" cy="31089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EC8D7"/>
                </a:solidFill>
                <a:latin typeface="Aptos"/>
              </a:rPr>
              <a:t>Higher income · more 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209544"/>
            <a:ext cx="3246120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Applicants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2816" y="3209544"/>
            <a:ext cx="134416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9C9E7"/>
                </a:solidFill>
                <a:latin typeface="Aptos"/>
              </a:rPr>
              <a:t>4,792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767328"/>
            <a:ext cx="3246120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Historical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2816" y="3767328"/>
            <a:ext cx="134416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9C9E7"/>
                </a:solidFill>
                <a:latin typeface="Aptos"/>
              </a:rPr>
              <a:t>60.73%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4325112"/>
            <a:ext cx="3246120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GB classification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4325112"/>
            <a:ext cx="134416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9C9E7"/>
                </a:solidFill>
                <a:latin typeface="Aptos"/>
              </a:rPr>
              <a:t>19.64%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965960"/>
            <a:ext cx="5221224" cy="3209544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9944" y="2231136"/>
            <a:ext cx="576072" cy="566928"/>
          </a:xfrm>
          <a:prstGeom prst="roundRect">
            <a:avLst/>
          </a:prstGeom>
          <a:solidFill>
            <a:srgbClr val="A88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2231136"/>
            <a:ext cx="576072" cy="56692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E1224"/>
                </a:solidFill>
                <a:latin typeface="Apto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2212848"/>
            <a:ext cx="3895344" cy="47548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5F7FC"/>
                </a:solidFill>
                <a:latin typeface="Aptos"/>
              </a:rPr>
              <a:t>Cluster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61488"/>
            <a:ext cx="4535424" cy="31089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EC8D7"/>
                </a:solidFill>
                <a:latin typeface="Aptos"/>
              </a:rPr>
              <a:t>Younger · lower income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209544"/>
            <a:ext cx="3246120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Applicants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3209544"/>
            <a:ext cx="134416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88AF4"/>
                </a:solidFill>
                <a:latin typeface="Aptos"/>
              </a:rPr>
              <a:t>7,208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3767328"/>
            <a:ext cx="3246120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Historical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3767328"/>
            <a:ext cx="134416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88AF4"/>
                </a:solidFill>
                <a:latin typeface="Aptos"/>
              </a:rPr>
              <a:t>47.77%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4325112"/>
            <a:ext cx="3246120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EC8D7"/>
                </a:solidFill>
                <a:latin typeface="Aptos"/>
              </a:rPr>
              <a:t>GB classification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4325112"/>
            <a:ext cx="1344168" cy="38404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88AF4"/>
                </a:solidFill>
                <a:latin typeface="Aptos"/>
              </a:rPr>
              <a:t>19.55%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6035040"/>
            <a:ext cx="11018520" cy="512064"/>
          </a:xfrm>
          <a:prstGeom prst="roundRect">
            <a:avLst/>
          </a:prstGeom>
          <a:solidFill>
            <a:srgbClr val="1D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3504" y="6035040"/>
            <a:ext cx="82296" cy="512064"/>
          </a:xfrm>
          <a:prstGeom prst="rect">
            <a:avLst/>
          </a:prstGeom>
          <a:solidFill>
            <a:srgbClr val="2E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6071616"/>
            <a:ext cx="10561320" cy="40233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5F7FC"/>
                </a:solidFill>
                <a:latin typeface="Aptos"/>
              </a:rPr>
              <a:t>Only a 0.09 percentage-point error gap: K-Means was diagnostic, not a new decision rule.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18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problem did we solve?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384280" y="64008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86384" y="1517904"/>
            <a:ext cx="10634472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165506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FC532"/>
          </a:solidFill>
          <a:ln w="12700">
            <a:solidFill>
              <a:srgbClr val="FFC532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1664208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45336" y="1591056"/>
            <a:ext cx="972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45336" y="1929384"/>
            <a:ext cx="9720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 monthly cases created heavy manual review</a:t>
            </a:r>
            <a:endParaRPr lang="en-US" sz="1400" dirty="0"/>
          </a:p>
        </p:txBody>
      </p:sp>
      <p:pic>
        <p:nvPicPr>
          <p:cNvPr id="10" name="Image 0" descr="/mnt/data/credit_targeted_final/clock_FFC5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700784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86384" y="2551176"/>
            <a:ext cx="10634472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14400" y="268833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19C9E7"/>
          </a:solidFill>
          <a:ln w="12700">
            <a:solidFill>
              <a:srgbClr val="19C9E7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1832" y="2697480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545336" y="2624328"/>
            <a:ext cx="972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545336" y="2962656"/>
            <a:ext cx="9720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ML-based three-lane loan pre-screening</a:t>
            </a:r>
            <a:endParaRPr lang="en-US" sz="1400" dirty="0"/>
          </a:p>
        </p:txBody>
      </p:sp>
      <p:pic>
        <p:nvPicPr>
          <p:cNvPr id="16" name="Image 1" descr="/mnt/data/credit_targeted_final/brain_19C9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640" y="2734056"/>
            <a:ext cx="310896" cy="31089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86384" y="3584448"/>
            <a:ext cx="10634472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14400" y="372160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2ED3A5"/>
          </a:solidFill>
          <a:ln w="12700">
            <a:solidFill>
              <a:srgbClr val="2ED3A5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41832" y="3730752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545336" y="3657600"/>
            <a:ext cx="972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545336" y="3995928"/>
            <a:ext cx="9720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43.96% retrospective automation under the 5% limits</a:t>
            </a:r>
            <a:endParaRPr lang="en-US" sz="1400" dirty="0"/>
          </a:p>
        </p:txBody>
      </p:sp>
      <p:pic>
        <p:nvPicPr>
          <p:cNvPr id="22" name="Image 2" descr="/mnt/data/credit_targeted_final/check_2ED3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5640" y="3767328"/>
            <a:ext cx="310896" cy="31089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86384" y="4617720"/>
            <a:ext cx="10634472" cy="758952"/>
          </a:xfrm>
          <a:prstGeom prst="roundRect">
            <a:avLst>
              <a:gd name="adj" fmla="val 14458"/>
            </a:avLst>
          </a:prstGeom>
          <a:solidFill>
            <a:srgbClr val="1B2035"/>
          </a:solidFill>
          <a:ln w="12700">
            <a:solidFill>
              <a:srgbClr val="1B2035">
                <a:alpha val="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4400" y="475488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A88AF4"/>
          </a:solidFill>
          <a:ln w="12700">
            <a:solidFill>
              <a:srgbClr val="A88AF4">
                <a:alpha val="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41832" y="4764024"/>
            <a:ext cx="420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13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1545336" y="4690872"/>
            <a:ext cx="9720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545336" y="5029200"/>
            <a:ext cx="97200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Fresh time-based shadow evaluation before deployment</a:t>
            </a:r>
            <a:endParaRPr lang="en-US" sz="1400" dirty="0"/>
          </a:p>
        </p:txBody>
      </p:sp>
      <p:pic>
        <p:nvPicPr>
          <p:cNvPr id="28" name="Image 3" descr="/mnt/data/credit_targeted_final/shield_A88A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5640" y="4800600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1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0" b="1" dirty="0">
                <a:solidFill>
                  <a:srgbClr val="F5F6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5500" dirty="0"/>
          </a:p>
        </p:txBody>
      </p:sp>
      <p:sp>
        <p:nvSpPr>
          <p:cNvPr id="4" name="Text 1"/>
          <p:cNvSpPr/>
          <p:nvPr/>
        </p:nvSpPr>
        <p:spPr>
          <a:xfrm>
            <a:off x="749808" y="337413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49808" y="4800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9C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MADHU KUNCHALA  ·  CALIBO AI ACADEMY</a:t>
            </a:r>
            <a:endParaRPr lang="en-US" sz="1900" dirty="0"/>
          </a:p>
        </p:txBody>
      </p:sp>
      <p:pic>
        <p:nvPicPr>
          <p:cNvPr id="6" name="Image 0" descr="/mnt/data/credit_targeted_final/bank_19C9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395728"/>
            <a:ext cx="1371600" cy="1371600"/>
          </a:xfrm>
          <a:prstGeom prst="rect">
            <a:avLst/>
          </a:prstGeom>
        </p:spPr>
      </p:pic>
      <p:pic>
        <p:nvPicPr>
          <p:cNvPr id="7" name="Image 1" descr="/mnt/data/credit_targeted_final/brain_A88A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88" y="3310128"/>
            <a:ext cx="1005840" cy="10058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402568" y="640994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C6C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3858</Words>
  <Application>Microsoft Office PowerPoint</Application>
  <PresentationFormat>Widescreen</PresentationFormat>
  <Paragraphs>524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Credit Pre-Screening Engine — Reinforcement Learning-inspired design</dc:subject>
  <dc:creator>Madhu Kunchala</dc:creator>
  <cp:lastModifiedBy>Madhu Kunchala</cp:lastModifiedBy>
  <cp:revision>2</cp:revision>
  <dcterms:created xsi:type="dcterms:W3CDTF">2026-10-23T19:13:14Z</dcterms:created>
  <dcterms:modified xsi:type="dcterms:W3CDTF">2026-10-25T05:32:38Z</dcterms:modified>
</cp:coreProperties>
</file>